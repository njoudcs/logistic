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71" r:id="rId7"/>
    <p:sldId id="270" r:id="rId8"/>
    <p:sldId id="262" r:id="rId9"/>
    <p:sldId id="263" r:id="rId10"/>
    <p:sldId id="272" r:id="rId11"/>
    <p:sldId id="265" r:id="rId12"/>
    <p:sldId id="266" r:id="rId13"/>
    <p:sldId id="268" r:id="rId14"/>
    <p:sldId id="269" r:id="rId1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78"/>
    <p:restoredTop sz="94733"/>
  </p:normalViewPr>
  <p:slideViewPr>
    <p:cSldViewPr snapToGrid="0">
      <p:cViewPr varScale="1">
        <p:scale>
          <a:sx n="49" d="100"/>
          <a:sy n="49" d="100"/>
        </p:scale>
        <p:origin x="208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35" name="Shape 1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457200" rtl="0" latinLnBrk="0">
              <a:lnSpc>
                <a:spcPct val="117999"/>
              </a:lnSpc>
            </a:pP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183367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>
            <a:spLocks noGrp="1"/>
          </p:cNvSpPr>
          <p:nvPr>
            <p:ph type="pic" idx="21"/>
          </p:nvPr>
        </p:nvSpPr>
        <p:spPr>
          <a:xfrm>
            <a:off x="3125968" y="-393700"/>
            <a:ext cx="18135601" cy="12090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>
            <a:spLocks noGrp="1"/>
          </p:cNvSpPr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>
            <a:spLocks noGrp="1"/>
          </p:cNvSpPr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8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andy path between two hills leading to the ocean"/>
          <p:cNvSpPr>
            <a:spLocks noGrp="1"/>
          </p:cNvSpPr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102" name="Heron flying low over a beach with a short fence in the foreground"/>
          <p:cNvSpPr>
            <a:spLocks noGrp="1"/>
          </p:cNvSpPr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103" name="View of beach and sea from a grassy sand dune"/>
          <p:cNvSpPr>
            <a:spLocks noGrp="1"/>
          </p:cNvSpPr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112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1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View of beach and sea from a grassy sand dune"/>
          <p:cNvSpPr>
            <a:spLocks noGrp="1"/>
          </p:cNvSpPr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1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roject charter"/>
          <p:cNvSpPr txBox="1">
            <a:spLocks noGrp="1"/>
          </p:cNvSpPr>
          <p:nvPr>
            <p:ph type="ctrTitle"/>
          </p:nvPr>
        </p:nvSpPr>
        <p:spPr>
          <a:xfrm>
            <a:off x="-6802562" y="484760"/>
            <a:ext cx="20579482" cy="1080675"/>
          </a:xfrm>
          <a:prstGeom prst="rect">
            <a:avLst/>
          </a:prstGeom>
        </p:spPr>
        <p:txBody>
          <a:bodyPr/>
          <a:lstStyle>
            <a:lvl1pPr defTabSz="470534">
              <a:defRPr sz="6384"/>
            </a:lvl1pPr>
          </a:lstStyle>
          <a:p>
            <a:r>
              <a:rPr dirty="0"/>
              <a:t>Project charter</a:t>
            </a:r>
          </a:p>
        </p:txBody>
      </p:sp>
      <p:sp>
        <p:nvSpPr>
          <p:cNvPr id="138" name="Date :…"/>
          <p:cNvSpPr txBox="1">
            <a:spLocks noGrp="1"/>
          </p:cNvSpPr>
          <p:nvPr>
            <p:ph type="subTitle" sz="quarter" idx="1"/>
          </p:nvPr>
        </p:nvSpPr>
        <p:spPr>
          <a:xfrm>
            <a:off x="10975656" y="441067"/>
            <a:ext cx="7825780" cy="1080675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algn="l" defTabSz="553084">
              <a:defRPr sz="3618"/>
            </a:pPr>
            <a:r>
              <a:rPr dirty="0"/>
              <a:t>Date :</a:t>
            </a:r>
          </a:p>
          <a:p>
            <a:pPr algn="l" defTabSz="553084">
              <a:defRPr sz="3618"/>
            </a:pPr>
            <a:r>
              <a:rPr dirty="0"/>
              <a:t>Name : </a:t>
            </a:r>
          </a:p>
        </p:txBody>
      </p:sp>
      <p:sp>
        <p:nvSpPr>
          <p:cNvPr id="139" name="Project Title:…"/>
          <p:cNvSpPr txBox="1"/>
          <p:nvPr/>
        </p:nvSpPr>
        <p:spPr>
          <a:xfrm>
            <a:off x="717238" y="2139932"/>
            <a:ext cx="5812553" cy="1395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spcBef>
                <a:spcPts val="0"/>
              </a:spcBef>
              <a:defRPr sz="4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Project Title:</a:t>
            </a:r>
          </a:p>
          <a:p>
            <a:pPr defTabSz="457200" rtl="1">
              <a:spcBef>
                <a:spcPts val="0"/>
              </a:spcBef>
              <a:defRPr sz="4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ar-SA" dirty="0">
                <a:solidFill>
                  <a:srgbClr val="0070C0"/>
                </a:solidFill>
              </a:rPr>
              <a:t>ادارة كفاءة مشروع </a:t>
            </a:r>
            <a:r>
              <a:rPr lang="en-US" dirty="0">
                <a:solidFill>
                  <a:srgbClr val="0070C0"/>
                </a:solidFill>
              </a:rPr>
              <a:t>Green Box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140" name="Business Case…"/>
          <p:cNvSpPr txBox="1"/>
          <p:nvPr/>
        </p:nvSpPr>
        <p:spPr>
          <a:xfrm>
            <a:off x="708003" y="4739230"/>
            <a:ext cx="16997367" cy="2503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3800" dirty="0"/>
              <a:t>Business Case</a:t>
            </a:r>
            <a:r>
              <a:rPr sz="1700" dirty="0"/>
              <a:t> </a:t>
            </a:r>
          </a:p>
          <a:p>
            <a:pPr defTabSz="457200">
              <a:spcBef>
                <a:spcPts val="1200"/>
              </a:spcBef>
              <a:defRPr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700" i="1" dirty="0"/>
              <a:t>(Why this matters , What is the problem? What is the impact (financial / operational)? )</a:t>
            </a:r>
            <a:endParaRPr lang="ar-SA" sz="1700" i="1" dirty="0"/>
          </a:p>
          <a:p>
            <a:pPr defTabSz="457200">
              <a:spcBef>
                <a:spcPts val="1200"/>
              </a:spcBef>
              <a:defRPr sz="2800">
                <a:latin typeface="Times Roman"/>
                <a:ea typeface="Times Roman"/>
                <a:cs typeface="Times Roman"/>
                <a:sym typeface="Times Roman"/>
              </a:defRPr>
            </a:pPr>
            <a:endParaRPr sz="1700" i="1" dirty="0"/>
          </a:p>
          <a:p>
            <a:pPr defTabSz="457200">
              <a:spcBef>
                <a:spcPts val="1200"/>
              </a:spcBef>
              <a:defRPr sz="4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ar-SA" sz="2400" dirty="0">
                <a:solidFill>
                  <a:srgbClr val="0070C0"/>
                </a:solidFill>
              </a:rPr>
              <a:t>المشكلة توصيل متأخر (تأثير تشغيلي) واستلام خاطئ (تأثير مالي)</a:t>
            </a:r>
          </a:p>
          <a:p>
            <a:pPr defTabSz="457200">
              <a:spcBef>
                <a:spcPts val="1200"/>
              </a:spcBef>
              <a:defRPr sz="4200">
                <a:latin typeface="Times Roman"/>
                <a:ea typeface="Times Roman"/>
                <a:cs typeface="Times Roman"/>
                <a:sym typeface="Times Roman"/>
              </a:defRPr>
            </a:pPr>
            <a:endParaRPr sz="2000" dirty="0">
              <a:solidFill>
                <a:srgbClr val="0070C0"/>
              </a:solidFill>
            </a:endParaRPr>
          </a:p>
        </p:txBody>
      </p:sp>
      <p:sp>
        <p:nvSpPr>
          <p:cNvPr id="141" name="Problem Statement (Data-based)…"/>
          <p:cNvSpPr txBox="1"/>
          <p:nvPr/>
        </p:nvSpPr>
        <p:spPr>
          <a:xfrm>
            <a:off x="760360" y="7524889"/>
            <a:ext cx="10700120" cy="2903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sz="3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Problem Statement (Data-based)</a:t>
            </a:r>
          </a:p>
          <a:p>
            <a:pPr defTabSz="457200">
              <a:spcBef>
                <a:spcPts val="1200"/>
              </a:spcBef>
              <a:defRPr sz="3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800" i="1" dirty="0"/>
              <a:t>Format: Current performance is ___ compared to target ___, resulting in ___ impact</a:t>
            </a:r>
            <a:endParaRPr lang="ar-SA" sz="1800" i="1" dirty="0"/>
          </a:p>
          <a:p>
            <a:pPr defTabSz="457200">
              <a:spcBef>
                <a:spcPts val="1200"/>
              </a:spcBef>
              <a:defRPr sz="3400">
                <a:latin typeface="Times Roman"/>
                <a:ea typeface="Times Roman"/>
                <a:cs typeface="Times Roman"/>
                <a:sym typeface="Times Roman"/>
              </a:defRPr>
            </a:pPr>
            <a:endParaRPr sz="1800" i="1" dirty="0"/>
          </a:p>
          <a:p>
            <a:pPr defTabSz="457200" rtl="1">
              <a:spcBef>
                <a:spcPts val="1200"/>
              </a:spcBef>
              <a:defRPr sz="3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ar-SA" sz="2400" dirty="0">
                <a:solidFill>
                  <a:srgbClr val="0070C0"/>
                </a:solidFill>
                <a:latin typeface="Times Roman"/>
                <a:sym typeface="Times Roman"/>
              </a:rPr>
              <a:t>الأداء الحالي سجل تأخير في خروج الشحنات٫ بينما المستهدف التوصيل في الوقت المحدد حسب اتفاقية مستوى الخدمة</a:t>
            </a:r>
          </a:p>
          <a:p>
            <a:pPr defTabSz="457200" rtl="1">
              <a:spcBef>
                <a:spcPts val="1200"/>
              </a:spcBef>
              <a:defRPr sz="3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ar-SA" sz="2400" dirty="0">
                <a:solidFill>
                  <a:srgbClr val="0070C0"/>
                </a:solidFill>
                <a:latin typeface="Times Roman"/>
                <a:sym typeface="Times Roman"/>
              </a:rPr>
              <a:t> مما نتج عنه انخفاض رضا العملاء وخسارتهم</a:t>
            </a:r>
            <a:r>
              <a:rPr lang="ar-SA" sz="2400" dirty="0">
                <a:sym typeface="Times Roman"/>
              </a:rPr>
              <a:t>.</a:t>
            </a:r>
            <a:endParaRPr sz="2400" dirty="0"/>
          </a:p>
        </p:txBody>
      </p:sp>
      <p:sp>
        <p:nvSpPr>
          <p:cNvPr id="142" name="Goal Statement (SMART)…"/>
          <p:cNvSpPr txBox="1"/>
          <p:nvPr/>
        </p:nvSpPr>
        <p:spPr>
          <a:xfrm>
            <a:off x="710377" y="10995155"/>
            <a:ext cx="18172639" cy="2149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sz="3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Goal Statement (SMART)</a:t>
            </a:r>
          </a:p>
          <a:p>
            <a:pPr defTabSz="457200">
              <a:spcBef>
                <a:spcPts val="1200"/>
              </a:spcBef>
              <a:defRPr sz="3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2400" i="1" dirty="0"/>
              <a:t> </a:t>
            </a:r>
            <a:r>
              <a:rPr sz="1900" i="1" dirty="0"/>
              <a:t>Format: Reduce / Increase ___ from ___ to ___ within ___ timeframe</a:t>
            </a:r>
            <a:endParaRPr lang="ar-SA" sz="1900" i="1" dirty="0"/>
          </a:p>
          <a:p>
            <a:pPr defTabSz="457200">
              <a:spcBef>
                <a:spcPts val="1200"/>
              </a:spcBef>
              <a:defRPr sz="3600">
                <a:latin typeface="Times Roman"/>
                <a:ea typeface="Times Roman"/>
                <a:cs typeface="Times Roman"/>
                <a:sym typeface="Times Roman"/>
              </a:defRPr>
            </a:pPr>
            <a:endParaRPr sz="1900" i="1" dirty="0"/>
          </a:p>
          <a:p>
            <a:pPr defTabSz="457200" rtl="1">
              <a:spcBef>
                <a:spcPts val="1200"/>
              </a:spcBef>
              <a:defRPr sz="3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ar-SA" sz="2400" dirty="0">
                <a:solidFill>
                  <a:srgbClr val="0070C0"/>
                </a:solidFill>
                <a:latin typeface="Times Roman"/>
              </a:rPr>
              <a:t>انخفاض نسبة الطلبات المتأخرة من </a:t>
            </a:r>
            <a:r>
              <a:rPr lang="en-US" sz="2400" dirty="0">
                <a:solidFill>
                  <a:srgbClr val="0070C0"/>
                </a:solidFill>
                <a:latin typeface="Times Roman"/>
              </a:rPr>
              <a:t>45% </a:t>
            </a:r>
            <a:r>
              <a:rPr lang="ar-SA" sz="2400" dirty="0">
                <a:solidFill>
                  <a:srgbClr val="0070C0"/>
                </a:solidFill>
                <a:latin typeface="Times Roman"/>
              </a:rPr>
              <a:t>الى </a:t>
            </a:r>
            <a:r>
              <a:rPr lang="en-US" sz="2400" dirty="0">
                <a:solidFill>
                  <a:srgbClr val="0070C0"/>
                </a:solidFill>
                <a:latin typeface="Times Roman"/>
              </a:rPr>
              <a:t>20%</a:t>
            </a:r>
            <a:r>
              <a:rPr lang="ar-SA" sz="2400" dirty="0">
                <a:solidFill>
                  <a:srgbClr val="0070C0"/>
                </a:solidFill>
                <a:latin typeface="Times Roman"/>
              </a:rPr>
              <a:t> في غضون ٣ أشهر.</a:t>
            </a:r>
            <a:endParaRPr sz="2400" dirty="0">
              <a:solidFill>
                <a:srgbClr val="0070C0"/>
              </a:solidFill>
              <a:latin typeface="Times Roman"/>
            </a:endParaRPr>
          </a:p>
        </p:txBody>
      </p:sp>
      <p:graphicFrame>
        <p:nvGraphicFramePr>
          <p:cNvPr id="143" name="Table 1"/>
          <p:cNvGraphicFramePr/>
          <p:nvPr>
            <p:extLst>
              <p:ext uri="{D42A27DB-BD31-4B8C-83A1-F6EECF244321}">
                <p14:modId xmlns:p14="http://schemas.microsoft.com/office/powerpoint/2010/main" val="2264514152"/>
              </p:ext>
            </p:extLst>
          </p:nvPr>
        </p:nvGraphicFramePr>
        <p:xfrm>
          <a:off x="12115248" y="2409959"/>
          <a:ext cx="12268751" cy="3850808"/>
        </p:xfrm>
        <a:graphic>
          <a:graphicData uri="http://schemas.openxmlformats.org/drawingml/2006/table">
            <a:tbl>
              <a:tblPr firstCol="1" bandRow="1">
                <a:tableStyleId>{4C3C2611-4C71-4FC5-86AE-919BDF0F9419}</a:tableStyleId>
              </a:tblPr>
              <a:tblGrid>
                <a:gridCol w="2138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4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4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0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90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24616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People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T w="12700">
                      <a:solidFill>
                        <a:srgbClr val="B8B8B8"/>
                      </a:solidFill>
                      <a:miter lim="400000"/>
                    </a:lnT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 dirty="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 dirty="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 dirty="0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 dirty="0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 dirty="0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4616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Name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نجود الناجم</a:t>
                      </a:r>
                      <a:endParaRPr dirty="0"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نجد الحيدان</a:t>
                      </a:r>
                      <a:endParaRPr dirty="0"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منى الدوسري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داليا الحربي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ريفان الدوسري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4616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Role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B w="12700">
                      <a:solidFill>
                        <a:srgbClr val="B8B8B8"/>
                      </a:solidFill>
                      <a:miter lim="400000"/>
                    </a:lnB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إدارة تشغيلية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CEO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إدارة التخطيط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مورد المستلزمات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شريك تجاري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4616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Tasks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4" name="Table 1-1"/>
          <p:cNvGraphicFramePr/>
          <p:nvPr>
            <p:extLst>
              <p:ext uri="{D42A27DB-BD31-4B8C-83A1-F6EECF244321}">
                <p14:modId xmlns:p14="http://schemas.microsoft.com/office/powerpoint/2010/main" val="3462153105"/>
              </p:ext>
            </p:extLst>
          </p:nvPr>
        </p:nvGraphicFramePr>
        <p:xfrm>
          <a:off x="12115247" y="7127336"/>
          <a:ext cx="12268751" cy="3698463"/>
        </p:xfrm>
        <a:graphic>
          <a:graphicData uri="http://schemas.openxmlformats.org/drawingml/2006/table">
            <a:tbl>
              <a:tblPr firstCol="1" bandRow="1">
                <a:tableStyleId>{4C3C2611-4C71-4FC5-86AE-919BDF0F9419}</a:tableStyleId>
              </a:tblPr>
              <a:tblGrid>
                <a:gridCol w="2138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4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4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47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447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32821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Scope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T w="12700">
                      <a:solidFill>
                        <a:srgbClr val="B8B8B8"/>
                      </a:solidFill>
                      <a:miter lim="400000"/>
                    </a:lnT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 dirty="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 dirty="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 dirty="0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 dirty="0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 dirty="0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2821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In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2821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Out of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B w="12700">
                      <a:solidFill>
                        <a:srgbClr val="B8B8B8"/>
                      </a:solidFill>
                      <a:miter lim="400000"/>
                    </a:lnB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R w="12700" cap="flat" cmpd="sng" algn="ctr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  <a:headEnd type="none" w="med" len="med"/>
                      <a:tailEnd type="none" w="med" len="med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roblem statement"/>
          <p:cNvSpPr txBox="1">
            <a:spLocks noGrp="1"/>
          </p:cNvSpPr>
          <p:nvPr>
            <p:ph type="ctrTitle"/>
          </p:nvPr>
        </p:nvSpPr>
        <p:spPr>
          <a:xfrm>
            <a:off x="-6048252" y="484760"/>
            <a:ext cx="20579482" cy="1080675"/>
          </a:xfrm>
          <a:prstGeom prst="rect">
            <a:avLst/>
          </a:prstGeom>
        </p:spPr>
        <p:txBody>
          <a:bodyPr/>
          <a:lstStyle>
            <a:lvl1pPr defTabSz="470534">
              <a:defRPr sz="6384"/>
            </a:lvl1pPr>
          </a:lstStyle>
          <a:p>
            <a:r>
              <a:rPr dirty="0"/>
              <a:t>Problem statement </a:t>
            </a:r>
          </a:p>
        </p:txBody>
      </p:sp>
      <p:sp>
        <p:nvSpPr>
          <p:cNvPr id="147" name="Date :…"/>
          <p:cNvSpPr txBox="1">
            <a:spLocks noGrp="1"/>
          </p:cNvSpPr>
          <p:nvPr>
            <p:ph type="subTitle" sz="quarter" idx="1"/>
          </p:nvPr>
        </p:nvSpPr>
        <p:spPr>
          <a:xfrm>
            <a:off x="16739674" y="425096"/>
            <a:ext cx="7517715" cy="1200002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defTabSz="553084">
              <a:defRPr sz="3618"/>
            </a:pPr>
            <a:r>
              <a:rPr dirty="0"/>
              <a:t>Date :</a:t>
            </a:r>
          </a:p>
          <a:p>
            <a:pPr defTabSz="553084">
              <a:defRPr sz="3618"/>
            </a:pPr>
            <a:r>
              <a:rPr dirty="0"/>
              <a:t>Name : </a:t>
            </a:r>
          </a:p>
        </p:txBody>
      </p:sp>
      <p:sp>
        <p:nvSpPr>
          <p:cNvPr id="148" name="Problem Description…"/>
          <p:cNvSpPr txBox="1"/>
          <p:nvPr/>
        </p:nvSpPr>
        <p:spPr>
          <a:xfrm>
            <a:off x="974663" y="2955677"/>
            <a:ext cx="23282726" cy="3334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sz="3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GB" dirty="0"/>
              <a:t>Problem Description</a:t>
            </a:r>
          </a:p>
          <a:p>
            <a:pPr defTabSz="457200"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GB" dirty="0"/>
              <a:t>What is happening? Where is it happening? How big is the problem?</a:t>
            </a:r>
          </a:p>
          <a:p>
            <a:pPr defTabSz="457200">
              <a:spcBef>
                <a:spcPts val="1200"/>
              </a:spcBef>
              <a:defRPr sz="4000">
                <a:latin typeface="Times Roman"/>
                <a:ea typeface="Times Roman"/>
                <a:cs typeface="Times Roman"/>
                <a:sym typeface="Times Roman"/>
              </a:defRPr>
            </a:pPr>
            <a:endParaRPr lang="en-GB" dirty="0">
              <a:solidFill>
                <a:srgbClr val="0070C0"/>
              </a:solidFill>
            </a:endParaRPr>
          </a:p>
          <a:p>
            <a:pPr algn="r" defTabSz="457200">
              <a:spcBef>
                <a:spcPts val="1200"/>
              </a:spcBef>
              <a:defRPr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ar-SA" dirty="0">
                <a:solidFill>
                  <a:srgbClr val="0070C0"/>
                </a:solidFill>
              </a:rPr>
              <a:t>المشكلة تبدا من تأخر خروج الشحنة من المستودع ينتج عنها ارتفاع في متوسط توصيل الطلب والتسليم في الوقت المحدد </a:t>
            </a:r>
          </a:p>
          <a:p>
            <a:pPr algn="r" defTabSz="457200">
              <a:spcBef>
                <a:spcPts val="1200"/>
              </a:spcBef>
              <a:defRPr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ar-SA" dirty="0">
                <a:solidFill>
                  <a:srgbClr val="0070C0"/>
                </a:solidFill>
              </a:rPr>
              <a:t>والمشكلة الأخرى وصول طلبيات خاطئة نتيجة عدم  دقة العنوان  </a:t>
            </a:r>
          </a:p>
        </p:txBody>
      </p:sp>
      <p:sp>
        <p:nvSpPr>
          <p:cNvPr id="149" name="DATA…"/>
          <p:cNvSpPr txBox="1"/>
          <p:nvPr/>
        </p:nvSpPr>
        <p:spPr>
          <a:xfrm>
            <a:off x="1061001" y="8384334"/>
            <a:ext cx="16997367" cy="1933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sz="3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DATA</a:t>
            </a:r>
            <a:endParaRPr sz="1700" dirty="0"/>
          </a:p>
          <a:p>
            <a:pPr defTabSz="457200">
              <a:spcBef>
                <a:spcPts val="1200"/>
              </a:spcBef>
              <a:defRPr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700" i="1" dirty="0"/>
              <a:t>CURRENT PREFORMANCE</a:t>
            </a:r>
            <a:endParaRPr lang="en-US" sz="1700" i="1" dirty="0"/>
          </a:p>
          <a:p>
            <a:pPr defTabSz="457200">
              <a:spcBef>
                <a:spcPts val="1200"/>
              </a:spcBef>
              <a:defRPr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4400" dirty="0">
                <a:solidFill>
                  <a:srgbClr val="0070C0"/>
                </a:solidFill>
              </a:rPr>
              <a:t>45%</a:t>
            </a:r>
            <a:endParaRPr sz="4400" dirty="0">
              <a:solidFill>
                <a:srgbClr val="0070C0"/>
              </a:solidFill>
            </a:endParaRPr>
          </a:p>
        </p:txBody>
      </p:sp>
      <p:sp>
        <p:nvSpPr>
          <p:cNvPr id="150" name="IMPACT…"/>
          <p:cNvSpPr txBox="1"/>
          <p:nvPr/>
        </p:nvSpPr>
        <p:spPr>
          <a:xfrm>
            <a:off x="1036221" y="10554787"/>
            <a:ext cx="18172639" cy="2595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sz="3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IMPACT </a:t>
            </a:r>
          </a:p>
          <a:p>
            <a:pPr defTabSz="457200">
              <a:spcBef>
                <a:spcPts val="1200"/>
              </a:spcBef>
              <a:defRPr sz="3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2400" i="1" dirty="0"/>
              <a:t>Financial</a:t>
            </a:r>
            <a:endParaRPr sz="1900" i="1" dirty="0"/>
          </a:p>
          <a:p>
            <a:pPr defTabSz="457200">
              <a:spcBef>
                <a:spcPts val="1200"/>
              </a:spcBef>
              <a:defRPr sz="3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ar-SA" dirty="0">
                <a:solidFill>
                  <a:srgbClr val="0070C0"/>
                </a:solidFill>
              </a:rPr>
              <a:t>صرف أجور ساعات عمل إضافية للسائقين</a:t>
            </a:r>
            <a:endParaRPr lang="en-US" dirty="0">
              <a:solidFill>
                <a:srgbClr val="0070C0"/>
              </a:solidFill>
            </a:endParaRPr>
          </a:p>
          <a:p>
            <a:pPr defTabSz="457200">
              <a:spcBef>
                <a:spcPts val="1200"/>
              </a:spcBef>
              <a:defRPr sz="3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ar-SA" dirty="0">
                <a:solidFill>
                  <a:srgbClr val="0070C0"/>
                </a:solidFill>
              </a:rPr>
              <a:t> لتغطية التأخير وضمان وصول الشحنات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151" name="TARGET PREFORMANCE…"/>
          <p:cNvSpPr txBox="1"/>
          <p:nvPr/>
        </p:nvSpPr>
        <p:spPr>
          <a:xfrm>
            <a:off x="12927157" y="9088642"/>
            <a:ext cx="16997367" cy="1164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700" i="1" dirty="0"/>
              <a:t>TARGET PREFORMANCE</a:t>
            </a:r>
          </a:p>
          <a:p>
            <a:pPr defTabSz="457200">
              <a:spcBef>
                <a:spcPts val="1200"/>
              </a:spcBef>
              <a:defRPr sz="4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>
                <a:solidFill>
                  <a:srgbClr val="0070C0"/>
                </a:solidFill>
              </a:rPr>
              <a:t>20%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152" name="Operational…"/>
          <p:cNvSpPr txBox="1"/>
          <p:nvPr/>
        </p:nvSpPr>
        <p:spPr>
          <a:xfrm>
            <a:off x="12970049" y="11286818"/>
            <a:ext cx="10311862" cy="1626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sz="2400" i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Operational </a:t>
            </a:r>
            <a:endParaRPr lang="ar-SA" dirty="0"/>
          </a:p>
          <a:p>
            <a:pPr defTabSz="457200">
              <a:spcBef>
                <a:spcPts val="1200"/>
              </a:spcBef>
              <a:defRPr sz="2400" i="1">
                <a:latin typeface="Times Roman"/>
                <a:ea typeface="Times Roman"/>
                <a:cs typeface="Times Roman"/>
                <a:sym typeface="Times Roman"/>
              </a:defRPr>
            </a:pPr>
            <a:endParaRPr sz="1900" dirty="0"/>
          </a:p>
          <a:p>
            <a:pPr defTabSz="457200">
              <a:spcBef>
                <a:spcPts val="1200"/>
              </a:spcBef>
              <a:defRPr sz="3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ar-SA" dirty="0">
                <a:solidFill>
                  <a:srgbClr val="0070C0"/>
                </a:solidFill>
              </a:rPr>
              <a:t>الجهد الإضافي على السائق أثر على الكفاءة والأداء العام لتسليم الطلبات</a:t>
            </a:r>
            <a:endParaRPr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 1-1"/>
          <p:cNvGraphicFramePr/>
          <p:nvPr>
            <p:extLst>
              <p:ext uri="{D42A27DB-BD31-4B8C-83A1-F6EECF244321}">
                <p14:modId xmlns:p14="http://schemas.microsoft.com/office/powerpoint/2010/main" val="1227565400"/>
              </p:ext>
            </p:extLst>
          </p:nvPr>
        </p:nvGraphicFramePr>
        <p:xfrm>
          <a:off x="1396946" y="3130448"/>
          <a:ext cx="22065877" cy="9722027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4250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88861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Suppliers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Input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Process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Output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Customer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العميل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3200" dirty="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3200" dirty="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3200" dirty="0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3200" dirty="0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3200" dirty="0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3200" dirty="0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5" name="SIPOC"/>
          <p:cNvSpPr txBox="1">
            <a:spLocks noGrp="1"/>
          </p:cNvSpPr>
          <p:nvPr>
            <p:ph type="title"/>
          </p:nvPr>
        </p:nvSpPr>
        <p:spPr>
          <a:xfrm>
            <a:off x="-7587687" y="58738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r>
              <a:rPr dirty="0"/>
              <a:t>SIPOC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7" name="Table 1-1"/>
          <p:cNvGraphicFramePr/>
          <p:nvPr/>
        </p:nvGraphicFramePr>
        <p:xfrm>
          <a:off x="1362736" y="2885983"/>
          <a:ext cx="22065877" cy="9722030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3242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9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72203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SOURCE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RAW VOC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WHY ?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8" name="VOC"/>
          <p:cNvSpPr txBox="1">
            <a:spLocks noGrp="1"/>
          </p:cNvSpPr>
          <p:nvPr>
            <p:ph type="title"/>
          </p:nvPr>
        </p:nvSpPr>
        <p:spPr>
          <a:xfrm>
            <a:off x="-7587687" y="58738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r>
              <a:rPr dirty="0"/>
              <a:t>VOC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VOC TO CTQ"/>
          <p:cNvSpPr txBox="1">
            <a:spLocks noGrp="1"/>
          </p:cNvSpPr>
          <p:nvPr>
            <p:ph type="title"/>
          </p:nvPr>
        </p:nvSpPr>
        <p:spPr>
          <a:xfrm>
            <a:off x="-6024626" y="609692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r>
              <a:rPr dirty="0"/>
              <a:t>VOC TO CTQ</a:t>
            </a:r>
            <a:r>
              <a:rPr lang="en-US" dirty="0"/>
              <a:t> - Direct</a:t>
            </a:r>
            <a:endParaRPr dirty="0"/>
          </a:p>
        </p:txBody>
      </p:sp>
      <p:graphicFrame>
        <p:nvGraphicFramePr>
          <p:cNvPr id="161" name="Table 1-1"/>
          <p:cNvGraphicFramePr/>
          <p:nvPr>
            <p:extLst>
              <p:ext uri="{D42A27DB-BD31-4B8C-83A1-F6EECF244321}">
                <p14:modId xmlns:p14="http://schemas.microsoft.com/office/powerpoint/2010/main" val="3968184382"/>
              </p:ext>
            </p:extLst>
          </p:nvPr>
        </p:nvGraphicFramePr>
        <p:xfrm>
          <a:off x="1396946" y="3130448"/>
          <a:ext cx="22065877" cy="9722027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4250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88861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VOC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NEED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CTQ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METRIC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TARGET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"</a:t>
                      </a:r>
                      <a:r>
                        <a:rPr lang="en-US" dirty="0"/>
                        <a:t>My late</a:t>
                      </a:r>
                      <a:r>
                        <a:rPr lang="ar-SA" dirty="0"/>
                        <a:t>"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الطلب يوصل أسرع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زيادة مدة التوصيل المتوقعة 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3 </a:t>
                      </a:r>
                      <a:r>
                        <a:rPr lang="ar-SA" dirty="0"/>
                        <a:t>أيام 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"لا أعلم متى سيصل طلبي”</a:t>
                      </a:r>
                      <a:endParaRPr lang="en-US" dirty="0"/>
                    </a:p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معرفة واضحة عن وقت توصيل الطلب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توفير تطبيق للتبع رقم الشحنة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نسبة دقة الوقت المتوقع للتوصيل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"لم يتم التواصل معي من قبل السائق"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 vMerge="1"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 vMerge="1"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"لتم يتم حل المشكلة من قبل خدمة العملاء"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استجابة وافية للاستفسارات والشكاوى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تدريب موظفين خدمة العملاء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نسبة رضا العملاء على خدمة العمل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en-US" b="1" dirty="0"/>
                        <a:t>98</a:t>
                      </a:r>
                      <a:r>
                        <a:rPr lang="ar-SA" b="1" dirty="0"/>
                        <a:t>%&lt;=</a:t>
                      </a:r>
                      <a:endParaRPr lang="ar-SA"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“</a:t>
                      </a:r>
                      <a:r>
                        <a:rPr lang="ar-SA" dirty="0"/>
                        <a:t>شحنة تالفة</a:t>
                      </a:r>
                      <a:r>
                        <a:rPr lang="en-US" dirty="0"/>
                        <a:t>”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تعويض بشحنة سليمة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تحسين تغليف المنتج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نسبة الطلبات التالفة من اجمالي الطلبات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en-US" b="1" dirty="0"/>
                        <a:t>99</a:t>
                      </a:r>
                      <a:r>
                        <a:rPr lang="ar-SA" b="1" dirty="0"/>
                        <a:t>%&lt;=</a:t>
                      </a:r>
                      <a:endParaRPr lang="ar-SA"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“</a:t>
                      </a:r>
                      <a:r>
                        <a:rPr lang="ar-SA" dirty="0"/>
                        <a:t>النظام مربك</a:t>
                      </a:r>
                      <a:r>
                        <a:rPr lang="en-US" dirty="0"/>
                        <a:t>”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نظام عنوان واضح وسلس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تحسين وتطوير وتحديث النظام لتلبية احتياجات المستخدم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المدة الزمنية الذي قضاها العميل في تحديد العنوان داخل النظام 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2 minute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6B8F5A4F-C625-429F-33B3-6EE31E76C6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452538" y="0"/>
            <a:ext cx="15452538" cy="91292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C9C505-DB13-86F5-8C35-F0B9658A75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671" y="-8400060"/>
            <a:ext cx="20363759" cy="719954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VOC TO CTQ"/>
          <p:cNvSpPr txBox="1">
            <a:spLocks noGrp="1"/>
          </p:cNvSpPr>
          <p:nvPr>
            <p:ph type="title"/>
          </p:nvPr>
        </p:nvSpPr>
        <p:spPr>
          <a:xfrm>
            <a:off x="-5511670" y="607805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r>
              <a:rPr dirty="0"/>
              <a:t>VOC TO CTQ</a:t>
            </a:r>
            <a:r>
              <a:rPr lang="en-US" dirty="0"/>
              <a:t> – Indirect </a:t>
            </a:r>
            <a:endParaRPr dirty="0"/>
          </a:p>
        </p:txBody>
      </p:sp>
      <p:graphicFrame>
        <p:nvGraphicFramePr>
          <p:cNvPr id="164" name="Table 1-1"/>
          <p:cNvGraphicFramePr/>
          <p:nvPr/>
        </p:nvGraphicFramePr>
        <p:xfrm>
          <a:off x="1396946" y="3130448"/>
          <a:ext cx="22065877" cy="10912823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4250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88861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VOC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NEED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CTQ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METRIC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TARGET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تحديث وقت التوصيل يكون ثابت وواضح بدون ما اتبع كل شوي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معلومات دقيقة عن وقت التوصيل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 err="1"/>
                        <a:t>تحسيين</a:t>
                      </a:r>
                      <a:r>
                        <a:rPr lang="ar-SA" dirty="0"/>
                        <a:t> دقة ال </a:t>
                      </a:r>
                      <a:r>
                        <a:rPr lang="en-US" dirty="0"/>
                        <a:t>ETA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نسبة دقة الوقت المتوقع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95%&gt;=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ما ابي تفوتني الشحنة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استلام الشحنة من اول المحاولة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ارسال تنبيه قبل </a:t>
                      </a:r>
                      <a:r>
                        <a:rPr lang="ar-SA" dirty="0" err="1"/>
                        <a:t>الشحنه</a:t>
                      </a:r>
                      <a:r>
                        <a:rPr lang="ar-SA" dirty="0"/>
                        <a:t> للموقع او(تركها في احد نقاط الاستلام لمدة 8 الى 24 ساعه)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نسبة نجاح التوصيل من اول محاولة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92%&gt;=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ابي اعدل وقت الاستلام بحيث أكون متواجد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مرونة في إعادة جدولة التوصيل (يكون بالكثير 3 أيام من الوقت الأساسي)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تفعيل خيار إعادة الجدولة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نسبة إعادة الجدولة الناجحة قبل وصول السائق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80%&gt;=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التوصيل يكون بالوقت اللي يناسبني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توفر فترات توصيل مناسبة (بناء على الوقت المناسب </a:t>
                      </a:r>
                      <a:r>
                        <a:rPr lang="ar-SA" dirty="0" err="1"/>
                        <a:t>للاغلب</a:t>
                      </a:r>
                      <a:r>
                        <a:rPr lang="ar-SA" dirty="0"/>
                        <a:t>)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تحسين نظام الفترات الزمنية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نسبة توفر الفترات المفضلة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90%=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ابي التوصيل وقته محدد </a:t>
                      </a:r>
                      <a:r>
                        <a:rPr lang="ar-SA" dirty="0" err="1"/>
                        <a:t>مايتغير</a:t>
                      </a:r>
                      <a:r>
                        <a:rPr lang="ar-SA" dirty="0"/>
                        <a:t> كل </a:t>
                      </a:r>
                      <a:r>
                        <a:rPr lang="ar-SA" dirty="0" err="1"/>
                        <a:t>مادخلت</a:t>
                      </a:r>
                      <a:r>
                        <a:rPr lang="ar-SA" dirty="0"/>
                        <a:t> على الشحنة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التزام ثابت بالوقت (التوصيل)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ETA</a:t>
                      </a:r>
                      <a:r>
                        <a:rPr lang="ar-SA" dirty="0"/>
                        <a:t>تقليل تغير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  </a:t>
                      </a:r>
                      <a:r>
                        <a:rPr lang="ar-SA" dirty="0"/>
                        <a:t> عدد تغيرات الشحنة</a:t>
                      </a:r>
                      <a:r>
                        <a:rPr lang="en-US" dirty="0"/>
                        <a:t>ETA </a:t>
                      </a:r>
                      <a:r>
                        <a:rPr lang="ar-SA" dirty="0"/>
                        <a:t>لكل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1&lt;=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ابي العنوان يكون واضح </a:t>
                      </a:r>
                      <a:r>
                        <a:rPr lang="ar-SA" dirty="0" err="1"/>
                        <a:t>ومايسبب</a:t>
                      </a:r>
                      <a:r>
                        <a:rPr lang="ar-SA" dirty="0"/>
                        <a:t> لي مشاكل في الشحن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نظام عنوان سهل ودقيق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تحسين نظام الموقع </a:t>
                      </a:r>
                      <a:r>
                        <a:rPr lang="ar-SA" dirty="0" err="1"/>
                        <a:t>التلقائي+العنوان</a:t>
                      </a:r>
                      <a:r>
                        <a:rPr lang="ar-SA" dirty="0"/>
                        <a:t> </a:t>
                      </a:r>
                      <a:r>
                        <a:rPr lang="ar-SA" dirty="0" err="1"/>
                        <a:t>الوطني+صورة</a:t>
                      </a:r>
                      <a:r>
                        <a:rPr lang="ar-SA" dirty="0"/>
                        <a:t> للباب او المنزل ان توفرت(ليس الزامي)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نسبة العناوين </a:t>
                      </a:r>
                      <a:r>
                        <a:rPr lang="ar-SA" dirty="0" err="1"/>
                        <a:t>المؤقته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98%&gt;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EF35C322-8183-47BC-FE89-009001539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779945" y="0"/>
            <a:ext cx="19779945" cy="972202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41775EB-375B-5411-5E37-0F38C2E464D0}"/>
              </a:ext>
            </a:extLst>
          </p:cNvPr>
          <p:cNvSpPr txBox="1"/>
          <p:nvPr/>
        </p:nvSpPr>
        <p:spPr>
          <a:xfrm flipH="1">
            <a:off x="3425190" y="1367530"/>
            <a:ext cx="17533620" cy="903837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kumimoji="0" lang="ar-SA" sz="4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رسالة الإد</a:t>
            </a:r>
            <a:r>
              <a:rPr kumimoji="0" lang="ar-SA" sz="4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ارة</a:t>
            </a:r>
            <a:r>
              <a:rPr lang="ar-SA" dirty="0"/>
              <a:t>: "ارتفاع التكاليف التشغيلية بنسبة 35% نتيجة تأخير تسليم الطلبات حيث تم صرف أجور ساعات عمل إضافية للسائقين لتغطية التأخير وضمان وصول الشحنات."</a:t>
            </a:r>
          </a:p>
          <a:p>
            <a:pPr marL="685800" indent="-685800" algn="r" rtl="1">
              <a:buFont typeface="Arial" panose="020B0604020202020204" pitchFamily="34" charset="0"/>
              <a:buChar char="•"/>
            </a:pPr>
            <a:r>
              <a:rPr lang="ar-SA" dirty="0"/>
              <a:t>الرسالة الفريق التشغيلي:  "رصدنا زيادة في نسبة تأخر الطلبات بنسبة</a:t>
            </a:r>
            <a:r>
              <a:rPr lang="en-US" dirty="0"/>
              <a:t> </a:t>
            </a:r>
            <a:r>
              <a:rPr lang="ar-SA" dirty="0"/>
              <a:t> </a:t>
            </a:r>
            <a:r>
              <a:rPr lang="en-US" b="1" dirty="0"/>
              <a:t>20</a:t>
            </a:r>
            <a:r>
              <a:rPr lang="ar-SA" b="1" dirty="0"/>
              <a:t>%</a:t>
            </a:r>
            <a:r>
              <a:rPr lang="ar-SA" dirty="0"/>
              <a:t> نطلب تحليل شامل بالأسباب الفنية واللوجستية التي ادت للتأخير."</a:t>
            </a:r>
          </a:p>
          <a:p>
            <a:pPr marL="685800" indent="-685800" algn="r" rtl="1">
              <a:buFont typeface="Arial" panose="020B0604020202020204" pitchFamily="34" charset="0"/>
              <a:buChar char="•"/>
            </a:pPr>
            <a:r>
              <a:rPr lang="ar-SA" dirty="0"/>
              <a:t>رسالة الامتثال: "نحيطكم علماً برصد تجاوزات في ساعات العمل الإضافية للسائقين نتيجة تأخر التوصيل، مما يرفع مخاطر عدم الامتثال لسياسات الراحة المعتمدة، ويعرض المنظومة لمخالفات إدارية ومخاطر متعلقة بالسلامة المهنية."</a:t>
            </a:r>
          </a:p>
          <a:p>
            <a:pPr marL="685800" indent="-685800" algn="r" rtl="1">
              <a:buFont typeface="Arial" panose="020B0604020202020204" pitchFamily="34" charset="0"/>
              <a:buChar char="•"/>
            </a:pPr>
            <a:endParaRPr kumimoji="0" lang="en-RU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59244453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TAKEHOLDER ANALYSIS"/>
          <p:cNvSpPr txBox="1">
            <a:spLocks noGrp="1"/>
          </p:cNvSpPr>
          <p:nvPr>
            <p:ph type="title"/>
          </p:nvPr>
        </p:nvSpPr>
        <p:spPr>
          <a:xfrm>
            <a:off x="-3927251" y="55317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r>
              <a:rPr dirty="0"/>
              <a:t>STAKEHOLDER ANALYSIS</a:t>
            </a:r>
          </a:p>
        </p:txBody>
      </p:sp>
      <p:graphicFrame>
        <p:nvGraphicFramePr>
          <p:cNvPr id="167" name="Table 1-1"/>
          <p:cNvGraphicFramePr/>
          <p:nvPr>
            <p:extLst>
              <p:ext uri="{D42A27DB-BD31-4B8C-83A1-F6EECF244321}">
                <p14:modId xmlns:p14="http://schemas.microsoft.com/office/powerpoint/2010/main" val="439006917"/>
              </p:ext>
            </p:extLst>
          </p:nvPr>
        </p:nvGraphicFramePr>
        <p:xfrm>
          <a:off x="1396946" y="3130448"/>
          <a:ext cx="22065878" cy="9722027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5324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0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03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03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88861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STAKEHOLDER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dirty="0"/>
                        <a:t>TYPE</a:t>
                      </a:r>
                    </a:p>
                    <a:p>
                      <a:pPr defTabSz="914400">
                        <a:defRPr sz="2100">
                          <a:sym typeface="Helvetica Neue"/>
                        </a:defRPr>
                      </a:pPr>
                      <a:r>
                        <a:rPr dirty="0"/>
                        <a:t> ( INTERNAL/EXTERNAL)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ROLE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INFLUENCE AREA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سائق التوصيل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داخلي 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توصيل الطلبات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تأثير مباشر على الأداء 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العميل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خارجي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استلام الطلب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تأثير على سمعة الشركة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مورد مستلزمات الشحن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خارجي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توفير مستلزمات الشحن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تأثير على تأخير الطلبات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إدارة تشغيلية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داخلي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التأكد من الكفاءة التشغيلية 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يأثر علي الكفاءة التشغيلية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إدارة التخطيط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داخلي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تعين المسارات الجداول الزمنية 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ضمان الترتيب والتزامن 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الشريك التجاري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خارجي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توفير طلبات العملاء 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التأثير على حجم عمل التشغيل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8" name="IDENTIFICATION"/>
          <p:cNvSpPr txBox="1"/>
          <p:nvPr/>
        </p:nvSpPr>
        <p:spPr>
          <a:xfrm>
            <a:off x="-5341618" y="1638227"/>
            <a:ext cx="17533618" cy="743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 lnSpcReduction="10000"/>
          </a:bodyPr>
          <a:lstStyle>
            <a:lvl1pPr algn="ctr" defTabSz="478790">
              <a:spcBef>
                <a:spcPts val="0"/>
              </a:spcBef>
              <a:defRPr sz="435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rPr dirty="0"/>
              <a:t>IDENTIFICATION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TAKEHOLDER ANALYSIS"/>
          <p:cNvSpPr txBox="1">
            <a:spLocks noGrp="1"/>
          </p:cNvSpPr>
          <p:nvPr>
            <p:ph type="title"/>
          </p:nvPr>
        </p:nvSpPr>
        <p:spPr>
          <a:xfrm>
            <a:off x="-3927251" y="55317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r>
              <a:rPr dirty="0"/>
              <a:t>STAKEHOLDER ANALYSIS</a:t>
            </a:r>
          </a:p>
        </p:txBody>
      </p:sp>
      <p:graphicFrame>
        <p:nvGraphicFramePr>
          <p:cNvPr id="171" name="Table 1-1"/>
          <p:cNvGraphicFramePr/>
          <p:nvPr>
            <p:extLst>
              <p:ext uri="{D42A27DB-BD31-4B8C-83A1-F6EECF244321}">
                <p14:modId xmlns:p14="http://schemas.microsoft.com/office/powerpoint/2010/main" val="50943955"/>
              </p:ext>
            </p:extLst>
          </p:nvPr>
        </p:nvGraphicFramePr>
        <p:xfrm>
          <a:off x="1396946" y="3130448"/>
          <a:ext cx="22065877" cy="9722027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4250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88861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STAKEHOLDER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POWER
 ( H/M/L )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INTEREST
 ( H/M/L )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IMPACT 
 ( H/M/L )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dirty="0"/>
                        <a:t>ATTITUDE </a:t>
                      </a:r>
                    </a:p>
                    <a:p>
                      <a:pPr defTabSz="914400">
                        <a:defRPr sz="1900">
                          <a:sym typeface="Helvetica Neue"/>
                        </a:defRPr>
                      </a:pPr>
                      <a:r>
                        <a:rPr dirty="0"/>
                        <a:t> ( SUPPORT /NEUTRAL / RESIST )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سائق التوصيل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L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                 H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H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S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العميل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L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                 H    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H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N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مورد مستلزمات الشحن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H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                M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L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N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إدارة تشغيلية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H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                H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H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S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إدارة التخطيط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H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              H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H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S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الشريك التجاري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H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                H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H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R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2" name="POWER / INTEREST / IMPACT"/>
          <p:cNvSpPr txBox="1"/>
          <p:nvPr/>
        </p:nvSpPr>
        <p:spPr>
          <a:xfrm>
            <a:off x="-3447113" y="1740679"/>
            <a:ext cx="17533617" cy="743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 lnSpcReduction="10000"/>
          </a:bodyPr>
          <a:lstStyle>
            <a:lvl1pPr algn="ctr" defTabSz="478790">
              <a:spcBef>
                <a:spcPts val="0"/>
              </a:spcBef>
              <a:defRPr sz="435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rPr dirty="0"/>
              <a:t>POWER / INTEREST / IMPACT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TAKEHOLDER ANALYSIS"/>
          <p:cNvSpPr txBox="1">
            <a:spLocks noGrp="1"/>
          </p:cNvSpPr>
          <p:nvPr>
            <p:ph type="title"/>
          </p:nvPr>
        </p:nvSpPr>
        <p:spPr>
          <a:xfrm>
            <a:off x="-3927251" y="55317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r>
              <a:rPr dirty="0"/>
              <a:t>STAKEHOLDER ANALYSIS</a:t>
            </a:r>
          </a:p>
        </p:txBody>
      </p:sp>
      <p:graphicFrame>
        <p:nvGraphicFramePr>
          <p:cNvPr id="175" name="Table 1-1"/>
          <p:cNvGraphicFramePr/>
          <p:nvPr/>
        </p:nvGraphicFramePr>
        <p:xfrm>
          <a:off x="1396946" y="3130448"/>
          <a:ext cx="22065878" cy="9722027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71273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9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9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88861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STAKEHOLDER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WHAT THEY CARE ABOUT = CTQ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CONFLICT WITH OTHERS ?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سائق التوصيل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وقت التوصيل تقديري ويكون واضح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ar-SA" dirty="0" err="1"/>
                        <a:t>يتاثرون</a:t>
                      </a:r>
                      <a:r>
                        <a:rPr lang="ar-SA" dirty="0"/>
                        <a:t> بالتخطيط والعناوين غير دقيقة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العميل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تحديثات التوصيل+ وقت توصيل دقيق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ar-SA" dirty="0" err="1"/>
                        <a:t>يتاثر</a:t>
                      </a:r>
                      <a:r>
                        <a:rPr lang="ar-SA" dirty="0"/>
                        <a:t> بالتوصيل </a:t>
                      </a:r>
                      <a:r>
                        <a:rPr lang="ar-SA" dirty="0" err="1"/>
                        <a:t>المتاخر</a:t>
                      </a:r>
                      <a:r>
                        <a:rPr lang="ar-SA" dirty="0"/>
                        <a:t> (سوء تخطيط والعناوين)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مورد مستلزمات الشحن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دقة الطلبات وسرعة التجهيز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ضغط والسرعة </a:t>
                      </a:r>
                      <a:r>
                        <a:rPr lang="ar-SA" dirty="0" err="1"/>
                        <a:t>ياثر</a:t>
                      </a:r>
                      <a:r>
                        <a:rPr lang="ar-SA" dirty="0"/>
                        <a:t> على الدقة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إدارة تشغيلية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مسارات فعالة واوقات توصيل دقيقة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تعارض مع أوقات العملاء وجودة العناوين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إدارة التخطيط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تحقيق </a:t>
                      </a:r>
                      <a:r>
                        <a:rPr lang="ar-SA" dirty="0" err="1"/>
                        <a:t>موشرات</a:t>
                      </a:r>
                      <a:r>
                        <a:rPr lang="ar-SA" dirty="0"/>
                        <a:t> الأداء  </a:t>
                      </a:r>
                      <a:endParaRPr lang="en-US" dirty="0"/>
                    </a:p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US" dirty="0"/>
                        <a:t>KPIs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صعوبة </a:t>
                      </a:r>
                      <a:r>
                        <a:rPr lang="ar-SA" dirty="0" err="1"/>
                        <a:t>الموازنه</a:t>
                      </a:r>
                      <a:r>
                        <a:rPr lang="ar-SA" dirty="0"/>
                        <a:t> بين </a:t>
                      </a:r>
                      <a:r>
                        <a:rPr lang="ar-SA" dirty="0" err="1"/>
                        <a:t>السرعه</a:t>
                      </a:r>
                      <a:r>
                        <a:rPr lang="ar-SA" dirty="0"/>
                        <a:t> </a:t>
                      </a:r>
                      <a:r>
                        <a:rPr lang="ar-SA" dirty="0" err="1"/>
                        <a:t>والجوده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الشريك التجاري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الالتزام بالاتفاقية ومستوى الخدمة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 err="1"/>
                        <a:t>يتاثر</a:t>
                      </a:r>
                      <a:r>
                        <a:rPr lang="ar-SA" dirty="0"/>
                        <a:t> بالمشاكل الداخلية </a:t>
                      </a:r>
                      <a:endParaRPr lang="en-US" dirty="0"/>
                    </a:p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(أي مشكلة في العناوين او التسليم توثر على الالتزام)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6" name="VS CTQ"/>
          <p:cNvSpPr txBox="1"/>
          <p:nvPr/>
        </p:nvSpPr>
        <p:spPr>
          <a:xfrm>
            <a:off x="-6243942" y="1740679"/>
            <a:ext cx="17533618" cy="743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rmAutofit lnSpcReduction="10000"/>
          </a:bodyPr>
          <a:lstStyle>
            <a:lvl1pPr algn="ctr" defTabSz="478790">
              <a:spcBef>
                <a:spcPts val="0"/>
              </a:spcBef>
              <a:defRPr sz="435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rPr dirty="0"/>
              <a:t>VS CTQ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TAKEHOLDER ANALYSIS"/>
          <p:cNvSpPr txBox="1">
            <a:spLocks noGrp="1"/>
          </p:cNvSpPr>
          <p:nvPr>
            <p:ph type="title"/>
          </p:nvPr>
        </p:nvSpPr>
        <p:spPr>
          <a:xfrm>
            <a:off x="-3927251" y="55317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r>
              <a:rPr dirty="0"/>
              <a:t>STAKEHOLDER ANALYSIS</a:t>
            </a:r>
          </a:p>
        </p:txBody>
      </p:sp>
      <p:graphicFrame>
        <p:nvGraphicFramePr>
          <p:cNvPr id="179" name="Table 1-1"/>
          <p:cNvGraphicFramePr/>
          <p:nvPr>
            <p:extLst>
              <p:ext uri="{D42A27DB-BD31-4B8C-83A1-F6EECF244321}">
                <p14:modId xmlns:p14="http://schemas.microsoft.com/office/powerpoint/2010/main" val="2392532128"/>
              </p:ext>
            </p:extLst>
          </p:nvPr>
        </p:nvGraphicFramePr>
        <p:xfrm>
          <a:off x="1396946" y="3130448"/>
          <a:ext cx="22065877" cy="10425143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4250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88861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STAKEHOLDER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STRATEGY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FREQUENCY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COMMUNICATION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OWNER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سائق التوصيل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sz="3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Helvetica Neue"/>
                          <a:ea typeface="Helvetica Neue"/>
                          <a:cs typeface="Helvetica Neue"/>
                          <a:sym typeface="Helvetica Neue Light"/>
                        </a:rPr>
                        <a:t>ضمان التوصيل الى العميل بالوقت المحدد مسبقا دون اي تأخير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sz="3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Helvetica Neue"/>
                          <a:ea typeface="Helvetica Neue"/>
                          <a:cs typeface="Helvetica Neue"/>
                          <a:sym typeface="Helvetica Neue Light"/>
                        </a:rPr>
                        <a:t>يعمل السائق يوميا على توصيل طلبات العملاء حسب جدول التوصيل المحدد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sz="3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Helvetica Neue"/>
                          <a:ea typeface="Helvetica Neue"/>
                          <a:cs typeface="Helvetica Neue"/>
                          <a:sym typeface="Helvetica Neue Light"/>
                        </a:rPr>
                        <a:t>التواصل مع السائق عن طريق التطبيق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sz="3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Helvetica Neue"/>
                          <a:ea typeface="Helvetica Neue"/>
                          <a:cs typeface="Helvetica Neue"/>
                          <a:sym typeface="Helvetica Neue Light"/>
                        </a:rPr>
                        <a:t>الإدارة التشغيلية المسؤولة عن التواصل و ضمان سير العمل </a:t>
                      </a:r>
                      <a:endParaRPr sz="32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Helvetica Neue"/>
                        <a:ea typeface="Helvetica Neue"/>
                        <a:cs typeface="Helvetica Neue"/>
                        <a:sym typeface="Helvetica Neue Light"/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العميل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sz="3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Helvetica Neue"/>
                          <a:ea typeface="Helvetica Neue"/>
                          <a:cs typeface="Helvetica Neue"/>
                          <a:sym typeface="Helvetica Neue Light"/>
                        </a:rPr>
                        <a:t>التعامل الفعال مع العميل والاستجابة السريعة للملاحظات والشكاوي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sz="3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Helvetica Neue"/>
                          <a:ea typeface="Helvetica Neue"/>
                          <a:cs typeface="Helvetica Neue"/>
                          <a:sym typeface="Helvetica Neue Light"/>
                        </a:rPr>
                        <a:t>عند الحاجة للاستفسار عن مدة وصول الطلب او استرجاعه او اي طلب لدى العميل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sz="3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Helvetica Neue"/>
                          <a:ea typeface="Helvetica Neue"/>
                          <a:cs typeface="Helvetica Neue"/>
                          <a:sym typeface="Helvetica Neue Light"/>
                        </a:rPr>
                        <a:t> البريد الالكتروني او التطبيق او المكالمات الهاتفية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sz="3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Helvetica Neue"/>
                          <a:ea typeface="Helvetica Neue"/>
                          <a:cs typeface="Helvetica Neue"/>
                          <a:sym typeface="Helvetica Neue Light"/>
                        </a:rPr>
                        <a:t>فريق خدمة العملاء للتعامل مع احتياجات العميل  </a:t>
                      </a:r>
                      <a:endParaRPr sz="32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Helvetica Neue"/>
                        <a:ea typeface="Helvetica Neue"/>
                        <a:cs typeface="Helvetica Neue"/>
                        <a:sym typeface="Helvetica Neue Light"/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/>
                        <a:t>مورد مستلزمات الشحن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sz="3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Helvetica Neue"/>
                          <a:ea typeface="Helvetica Neue"/>
                          <a:cs typeface="Helvetica Neue"/>
                          <a:sym typeface="Helvetica Neue Light"/>
                        </a:rPr>
                        <a:t>ضمان توفير المستلزمات بالوقت والكمية والجودة المطلوبة 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sz="3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Helvetica Neue"/>
                          <a:ea typeface="Helvetica Neue"/>
                          <a:cs typeface="Helvetica Neue"/>
                          <a:sym typeface="Helvetica Neue Light"/>
                        </a:rPr>
                        <a:t>عند احتياج الشركة للمستلزمات ويرتبط هذا التكرار بحجم الطلبات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sz="3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Helvetica Neue"/>
                          <a:ea typeface="Helvetica Neue"/>
                          <a:cs typeface="Helvetica Neue"/>
                          <a:sym typeface="Helvetica Neue Light"/>
                        </a:rPr>
                        <a:t>التوريد المباشر او المكالمات الهاتفية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sz="3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Helvetica Neue"/>
                          <a:ea typeface="Helvetica Neue"/>
                          <a:cs typeface="Helvetica Neue"/>
                          <a:sym typeface="Helvetica Neue Light"/>
                        </a:rPr>
                        <a:t>ادارة التخطيط لتأمين جميع المستلزمات الضرورية لتسهيل عملية شحن الطلبات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>
                          <a:solidFill>
                            <a:schemeClr val="tx1"/>
                          </a:solidFill>
                        </a:rPr>
                        <a:t>إدارة تشغيلية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>
                          <a:solidFill>
                            <a:schemeClr val="tx1"/>
                          </a:solidFill>
                        </a:rPr>
                        <a:t>مراقبة مؤشرات الأداء لسرعة خروج الشحنات من المستودع.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>
                          <a:solidFill>
                            <a:schemeClr val="tx1"/>
                          </a:solidFill>
                        </a:rPr>
                        <a:t>يومي/اسبوعي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>
                          <a:solidFill>
                            <a:schemeClr val="tx1"/>
                          </a:solidFill>
                        </a:rPr>
                        <a:t>لوحات البيانات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>
                          <a:solidFill>
                            <a:schemeClr val="tx1"/>
                          </a:solidFill>
                        </a:rPr>
                        <a:t>محلل البيانات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>
                          <a:solidFill>
                            <a:schemeClr val="tx1"/>
                          </a:solidFill>
                        </a:rPr>
                        <a:t>إدارة التخطيط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>
                          <a:solidFill>
                            <a:schemeClr val="tx1"/>
                          </a:solidFill>
                        </a:rPr>
                        <a:t>راجعة خطط التوسع في العناوين الجغرافية وتحسين المسارات.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>
                          <a:solidFill>
                            <a:schemeClr val="tx1"/>
                          </a:solidFill>
                        </a:rPr>
                        <a:t>شهري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>
                          <a:solidFill>
                            <a:schemeClr val="tx1"/>
                          </a:solidFill>
                        </a:rPr>
                        <a:t>تقارير أداء / اجتماعات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sym typeface="Helvetica Neue"/>
                        </a:defRPr>
                      </a:pPr>
                      <a:r>
                        <a:rPr lang="ar-SA" dirty="0">
                          <a:solidFill>
                            <a:schemeClr val="tx1"/>
                          </a:solidFill>
                        </a:rPr>
                        <a:t>مدير التخطيط الاستراتيجي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>
                          <a:solidFill>
                            <a:schemeClr val="tx1"/>
                          </a:solidFill>
                        </a:rPr>
                        <a:t>الشريك التجاري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>
                          <a:solidFill>
                            <a:schemeClr val="tx1"/>
                          </a:solidFill>
                        </a:rPr>
                        <a:t>اطلاعه على تحسن معدلات التسليم الناجح لضمان استمرارية الشراكة.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>
                          <a:solidFill>
                            <a:schemeClr val="tx1"/>
                          </a:solidFill>
                        </a:rPr>
                        <a:t>ربع سنوي 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>
                          <a:solidFill>
                            <a:schemeClr val="tx1"/>
                          </a:solidFill>
                        </a:rPr>
                        <a:t>عرض تقديمي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ar-SA" dirty="0">
                          <a:solidFill>
                            <a:schemeClr val="tx1"/>
                          </a:solidFill>
                        </a:rPr>
                        <a:t>مدير تطوير الأعمال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0" name="ENGAGEMENT STRATEGY"/>
          <p:cNvSpPr txBox="1"/>
          <p:nvPr/>
        </p:nvSpPr>
        <p:spPr>
          <a:xfrm>
            <a:off x="-3908726" y="1740679"/>
            <a:ext cx="17533618" cy="743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 lnSpcReduction="10000"/>
          </a:bodyPr>
          <a:lstStyle>
            <a:lvl1pPr algn="ctr" defTabSz="478790">
              <a:spcBef>
                <a:spcPts val="0"/>
              </a:spcBef>
              <a:defRPr sz="435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rPr dirty="0"/>
              <a:t>ENGAGEMENT STRATEGY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TAKEHOLDER ANALYSIS"/>
          <p:cNvSpPr txBox="1">
            <a:spLocks noGrp="1"/>
          </p:cNvSpPr>
          <p:nvPr>
            <p:ph type="title"/>
          </p:nvPr>
        </p:nvSpPr>
        <p:spPr>
          <a:xfrm>
            <a:off x="-3927251" y="55317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r>
              <a:rPr dirty="0"/>
              <a:t>STAKEHOLDER ANALYSIS</a:t>
            </a:r>
          </a:p>
        </p:txBody>
      </p:sp>
      <p:graphicFrame>
        <p:nvGraphicFramePr>
          <p:cNvPr id="183" name="Table 1-1"/>
          <p:cNvGraphicFramePr/>
          <p:nvPr/>
        </p:nvGraphicFramePr>
        <p:xfrm>
          <a:off x="1396946" y="3130448"/>
          <a:ext cx="22065878" cy="9722027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5324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0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03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03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88861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STAKEHOLDER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FORMAL POWER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INFORMAL INFLUENCE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NETWORK STRENGTH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4" name="INFLUENCE MAP"/>
          <p:cNvSpPr txBox="1"/>
          <p:nvPr/>
        </p:nvSpPr>
        <p:spPr>
          <a:xfrm>
            <a:off x="-5157795" y="1767833"/>
            <a:ext cx="17533618" cy="743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 lnSpcReduction="10000"/>
          </a:bodyPr>
          <a:lstStyle>
            <a:lvl1pPr algn="ctr" defTabSz="478790">
              <a:spcBef>
                <a:spcPts val="0"/>
              </a:spcBef>
              <a:defRPr sz="435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rPr dirty="0"/>
              <a:t>INFLUENCE MAP 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TAKEHOLDER ANALYSIS"/>
          <p:cNvSpPr txBox="1">
            <a:spLocks noGrp="1"/>
          </p:cNvSpPr>
          <p:nvPr>
            <p:ph type="title"/>
          </p:nvPr>
        </p:nvSpPr>
        <p:spPr>
          <a:xfrm>
            <a:off x="-3927251" y="55317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r>
              <a:rPr dirty="0"/>
              <a:t>STAKEHOLDER ANALYSIS</a:t>
            </a:r>
          </a:p>
        </p:txBody>
      </p:sp>
      <p:graphicFrame>
        <p:nvGraphicFramePr>
          <p:cNvPr id="191" name="Table 1-1"/>
          <p:cNvGraphicFramePr/>
          <p:nvPr/>
        </p:nvGraphicFramePr>
        <p:xfrm>
          <a:off x="1396946" y="3130448"/>
          <a:ext cx="22065877" cy="9722027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4250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88861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STAKEHOLDER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RISK TO PROJECT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RISK LEVEL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REASON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MITIGATION STRATEGY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2" name="RISK"/>
          <p:cNvSpPr txBox="1"/>
          <p:nvPr/>
        </p:nvSpPr>
        <p:spPr>
          <a:xfrm>
            <a:off x="-6624093" y="1822140"/>
            <a:ext cx="17533617" cy="743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 lnSpcReduction="10000"/>
          </a:bodyPr>
          <a:lstStyle>
            <a:lvl1pPr algn="ctr" defTabSz="478790">
              <a:spcBef>
                <a:spcPts val="0"/>
              </a:spcBef>
              <a:defRPr sz="435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rPr dirty="0"/>
              <a:t>RISK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TAKEHOLDER ANALYSIS"/>
          <p:cNvSpPr txBox="1">
            <a:spLocks noGrp="1"/>
          </p:cNvSpPr>
          <p:nvPr>
            <p:ph type="title"/>
          </p:nvPr>
        </p:nvSpPr>
        <p:spPr>
          <a:xfrm>
            <a:off x="-3927251" y="55317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r>
              <a:rPr dirty="0"/>
              <a:t>STAKEHOLDER ANALYSIS</a:t>
            </a:r>
          </a:p>
        </p:txBody>
      </p:sp>
      <p:graphicFrame>
        <p:nvGraphicFramePr>
          <p:cNvPr id="195" name="Table 1-1"/>
          <p:cNvGraphicFramePr/>
          <p:nvPr/>
        </p:nvGraphicFramePr>
        <p:xfrm>
          <a:off x="1159061" y="3371591"/>
          <a:ext cx="22065878" cy="8750817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71273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9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9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169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 dirty="0">
                          <a:sym typeface="Helvetica Neue"/>
                        </a:rPr>
                        <a:t>WHO MATTERS THE MOST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 dirty="0">
                          <a:sym typeface="Helvetica Neue"/>
                        </a:rPr>
                        <a:t>WHO IS RISKY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3200" dirty="0">
                          <a:sym typeface="Helvetica Neue"/>
                        </a:rPr>
                        <a:t>HOW YOU WILL MANAGE THEM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69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 dirty="0">
                          <a:sym typeface="Helvetica Neue"/>
                        </a:rPr>
                        <a:t>WHO WILL RESIST SILENTLY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 dirty="0">
                          <a:sym typeface="Helvetica Neue"/>
                        </a:rPr>
                        <a:t>WHO MUST YOU WIN FIRST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 dirty="0">
                          <a:sym typeface="Helvetica Neue"/>
                        </a:rPr>
                        <a:t>WHERE CONFLICT EXISTS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69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 dirty="0">
                          <a:sym typeface="Helvetica Neue"/>
                        </a:rPr>
                        <a:t>WHO LOSES FROM THIS CHANGE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 dirty="0">
                          <a:sym typeface="Helvetica Neue"/>
                        </a:rPr>
                        <a:t>WHO BENEFITS THE MOST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 dirty="0">
                          <a:sym typeface="Helvetica Neue"/>
                        </a:rPr>
                        <a:t>WHO CAN KILL YOUR PROJECT TOMORROW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6" name="THE IDEAL ANALYSIS ANSWERS THESE QUESTIONS"/>
          <p:cNvSpPr txBox="1"/>
          <p:nvPr/>
        </p:nvSpPr>
        <p:spPr>
          <a:xfrm>
            <a:off x="-819807" y="1957909"/>
            <a:ext cx="14364593" cy="6069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 algn="ctr" defTabSz="363220">
              <a:spcBef>
                <a:spcPts val="0"/>
              </a:spcBef>
              <a:defRPr sz="33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rPr dirty="0"/>
              <a:t>THE IDEAL ANALYSIS ANSWERS THESE QUESTIONS 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1461</TotalTime>
  <Words>1183</Words>
  <Application>Microsoft Macintosh PowerPoint</Application>
  <PresentationFormat>Custom</PresentationFormat>
  <Paragraphs>306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Helvetica Neue</vt:lpstr>
      <vt:lpstr>Helvetica Neue Light</vt:lpstr>
      <vt:lpstr>Helvetica Neue Medium</vt:lpstr>
      <vt:lpstr>Times Roman</vt:lpstr>
      <vt:lpstr>White</vt:lpstr>
      <vt:lpstr>Project charter</vt:lpstr>
      <vt:lpstr>Problem statement </vt:lpstr>
      <vt:lpstr>SIPOC</vt:lpstr>
      <vt:lpstr>VOC</vt:lpstr>
      <vt:lpstr>VOC TO CTQ - Direct</vt:lpstr>
      <vt:lpstr>VOC TO CTQ – Indirect </vt:lpstr>
      <vt:lpstr>PowerPoint Presentation</vt:lpstr>
      <vt:lpstr>STAKEHOLDER ANALYSIS</vt:lpstr>
      <vt:lpstr>STAKEHOLDER ANALYSIS</vt:lpstr>
      <vt:lpstr>STAKEHOLDER ANALYSIS</vt:lpstr>
      <vt:lpstr>STAKEHOLDER ANALYSIS</vt:lpstr>
      <vt:lpstr>STAKEHOLDER ANALYSIS</vt:lpstr>
      <vt:lpstr>STAKEHOLDER ANALYSIS</vt:lpstr>
      <vt:lpstr>STAKEHOLDER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ساره سعود محمد الناجم</cp:lastModifiedBy>
  <cp:revision>10</cp:revision>
  <dcterms:modified xsi:type="dcterms:W3CDTF">2026-05-06T15:23:57Z</dcterms:modified>
</cp:coreProperties>
</file>