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roject charter"/>
          <p:cNvSpPr txBox="1"/>
          <p:nvPr>
            <p:ph type="ctrTitle"/>
          </p:nvPr>
        </p:nvSpPr>
        <p:spPr>
          <a:xfrm>
            <a:off x="-680256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pPr/>
            <a:r>
              <a:t>Project charter</a:t>
            </a:r>
          </a:p>
        </p:txBody>
      </p:sp>
      <p:sp>
        <p:nvSpPr>
          <p:cNvPr id="138" name="Date :…"/>
          <p:cNvSpPr txBox="1"/>
          <p:nvPr>
            <p:ph type="subTitle" sz="quarter" idx="1"/>
          </p:nvPr>
        </p:nvSpPr>
        <p:spPr>
          <a:xfrm>
            <a:off x="16739674" y="425096"/>
            <a:ext cx="7517715" cy="1200002"/>
          </a:xfrm>
          <a:prstGeom prst="rect">
            <a:avLst/>
          </a:prstGeom>
        </p:spPr>
        <p:txBody>
          <a:bodyPr/>
          <a:lstStyle/>
          <a:p>
            <a:pPr defTabSz="553084">
              <a:defRPr sz="3618"/>
            </a:pPr>
            <a:r>
              <a:t>Date :</a:t>
            </a:r>
          </a:p>
          <a:p>
            <a:pPr defTabSz="553084">
              <a:defRPr sz="3618"/>
            </a:pPr>
            <a:r>
              <a:t>Name : </a:t>
            </a:r>
          </a:p>
        </p:txBody>
      </p:sp>
      <p:sp>
        <p:nvSpPr>
          <p:cNvPr id="139" name="Project Title:…"/>
          <p:cNvSpPr txBox="1"/>
          <p:nvPr/>
        </p:nvSpPr>
        <p:spPr>
          <a:xfrm>
            <a:off x="717238" y="2126359"/>
            <a:ext cx="7048501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Project Title:</a:t>
            </a:r>
          </a:p>
          <a:p>
            <a:pPr defTabSz="457200">
              <a:spcBef>
                <a:spcPts val="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40" name="Business Case…"/>
          <p:cNvSpPr txBox="1"/>
          <p:nvPr/>
        </p:nvSpPr>
        <p:spPr>
          <a:xfrm>
            <a:off x="708003" y="4625603"/>
            <a:ext cx="16997367" cy="273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800"/>
              <a:t>Business Case</a:t>
            </a:r>
            <a:r>
              <a:rPr sz="1700"/>
              <a:t> </a:t>
            </a:r>
            <a:endParaRPr sz="170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1700"/>
              <a:t>(Why this matters , What is the problem? What is the impact (financial / operational)? )</a:t>
            </a:r>
            <a:endParaRPr i="1" sz="1700"/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41" name="Problem Statement (Data-based)…"/>
          <p:cNvSpPr txBox="1"/>
          <p:nvPr/>
        </p:nvSpPr>
        <p:spPr>
          <a:xfrm>
            <a:off x="760360" y="7751018"/>
            <a:ext cx="20579480" cy="245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Statement (Data-based)</a:t>
            </a:r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1800"/>
              <a:t>Format: Current performance is ___ compared to target ___, resulting in ___ impact</a:t>
            </a:r>
            <a:endParaRPr i="1" sz="1800"/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42" name="Goal Statement (SMART)…"/>
          <p:cNvSpPr txBox="1"/>
          <p:nvPr/>
        </p:nvSpPr>
        <p:spPr>
          <a:xfrm>
            <a:off x="710377" y="10787108"/>
            <a:ext cx="18172639" cy="256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Goal Statement (SMART)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2400"/>
              <a:t> </a:t>
            </a:r>
            <a:r>
              <a:rPr i="1" sz="1900"/>
              <a:t>Format: Reduce / Increase ___ from ___ to ___ within ___ timeframe</a:t>
            </a:r>
            <a:endParaRPr i="1" sz="190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graphicFrame>
        <p:nvGraphicFramePr>
          <p:cNvPr id="143" name="Table 1"/>
          <p:cNvGraphicFramePr/>
          <p:nvPr/>
        </p:nvGraphicFramePr>
        <p:xfrm>
          <a:off x="10975656" y="2412704"/>
          <a:ext cx="12281453" cy="3711166"/>
        </p:xfrm>
        <a:graphic xmlns:a="http://schemas.openxmlformats.org/drawingml/2006/main">
          <a:graphicData uri="http://schemas.openxmlformats.org/drawingml/2006/table">
            <a:tbl>
              <a:tblPr firstCol="1" firstRow="0" lastCol="0" lastRow="0" bandCol="0" bandRow="1" rtl="0">
                <a:tableStyleId>{4C3C2611-4C71-4FC5-86AE-919BDF0F9419}</a:tableStyleId>
              </a:tblPr>
              <a:tblGrid>
                <a:gridCol w="2138380"/>
                <a:gridCol w="1951203"/>
                <a:gridCol w="2044792"/>
                <a:gridCol w="2044792"/>
                <a:gridCol w="2044792"/>
                <a:gridCol w="2044792"/>
              </a:tblGrid>
              <a:tr h="924616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People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Name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Role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24616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Tasks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144" name="Table 1-1"/>
          <p:cNvGraphicFramePr/>
          <p:nvPr/>
        </p:nvGraphicFramePr>
        <p:xfrm>
          <a:off x="10975656" y="8432948"/>
          <a:ext cx="12281453" cy="3711166"/>
        </p:xfrm>
        <a:graphic xmlns:a="http://schemas.openxmlformats.org/drawingml/2006/main">
          <a:graphicData uri="http://schemas.openxmlformats.org/drawingml/2006/table">
            <a:tbl>
              <a:tblPr firstCol="1" firstRow="0" lastCol="0" lastRow="0" bandCol="0" bandRow="1" rtl="0">
                <a:tableStyleId>{4C3C2611-4C71-4FC5-86AE-919BDF0F9419}</a:tableStyleId>
              </a:tblPr>
              <a:tblGrid>
                <a:gridCol w="2138380"/>
                <a:gridCol w="1951203"/>
                <a:gridCol w="2044792"/>
                <a:gridCol w="2044792"/>
                <a:gridCol w="2044792"/>
                <a:gridCol w="2044792"/>
              </a:tblGrid>
              <a:tr h="123282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Scope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T w="12700">
                      <a:solidFill>
                        <a:srgbClr val="B8B8B8"/>
                      </a:solidFill>
                      <a:miter lim="400000"/>
                    </a:lnT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In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23282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Out of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B w="12700">
                      <a:solidFill>
                        <a:srgbClr val="B8B8B8"/>
                      </a:solidFill>
                      <a:miter lim="400000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custDash>
                        <a:ds d="200000" sp="200000"/>
                      </a:custDash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roblem statement"/>
          <p:cNvSpPr txBox="1"/>
          <p:nvPr>
            <p:ph type="ctrTitle"/>
          </p:nvPr>
        </p:nvSpPr>
        <p:spPr>
          <a:xfrm>
            <a:off x="-6048252" y="484760"/>
            <a:ext cx="20579482" cy="1080675"/>
          </a:xfrm>
          <a:prstGeom prst="rect">
            <a:avLst/>
          </a:prstGeom>
        </p:spPr>
        <p:txBody>
          <a:bodyPr/>
          <a:lstStyle>
            <a:lvl1pPr defTabSz="470534">
              <a:defRPr sz="6384"/>
            </a:lvl1pPr>
          </a:lstStyle>
          <a:p>
            <a:pPr/>
            <a:r>
              <a:t>Problem statement </a:t>
            </a:r>
          </a:p>
        </p:txBody>
      </p:sp>
      <p:sp>
        <p:nvSpPr>
          <p:cNvPr id="147" name="Date :…"/>
          <p:cNvSpPr txBox="1"/>
          <p:nvPr>
            <p:ph type="subTitle" sz="quarter" idx="1"/>
          </p:nvPr>
        </p:nvSpPr>
        <p:spPr>
          <a:xfrm>
            <a:off x="16739674" y="425096"/>
            <a:ext cx="7517715" cy="1200002"/>
          </a:xfrm>
          <a:prstGeom prst="rect">
            <a:avLst/>
          </a:prstGeom>
        </p:spPr>
        <p:txBody>
          <a:bodyPr/>
          <a:lstStyle/>
          <a:p>
            <a:pPr defTabSz="553084">
              <a:defRPr sz="3618"/>
            </a:pPr>
            <a:r>
              <a:t>Date :</a:t>
            </a:r>
          </a:p>
          <a:p>
            <a:pPr defTabSz="553084">
              <a:defRPr sz="3618"/>
            </a:pPr>
            <a:r>
              <a:t>Name : </a:t>
            </a:r>
          </a:p>
        </p:txBody>
      </p:sp>
      <p:sp>
        <p:nvSpPr>
          <p:cNvPr id="148" name="Problem Description…"/>
          <p:cNvSpPr txBox="1"/>
          <p:nvPr/>
        </p:nvSpPr>
        <p:spPr>
          <a:xfrm>
            <a:off x="974663" y="2736849"/>
            <a:ext cx="20947383" cy="3771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Description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happening? Where is it happening? How big is the problem?</a:t>
            </a:r>
          </a:p>
          <a:p>
            <a:pPr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……………………………………………………………………………………………….…………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</a:p>
        </p:txBody>
      </p:sp>
      <p:sp>
        <p:nvSpPr>
          <p:cNvPr id="149" name="DATA…"/>
          <p:cNvSpPr txBox="1"/>
          <p:nvPr/>
        </p:nvSpPr>
        <p:spPr>
          <a:xfrm>
            <a:off x="1061001" y="7986015"/>
            <a:ext cx="16997367" cy="273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</a:t>
            </a:r>
            <a:endParaRPr sz="1700"/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1700"/>
              <a:t>CURRENT PREFORMANCE</a:t>
            </a:r>
            <a:endParaRPr i="1" sz="1700"/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50" name="IMPACT…"/>
          <p:cNvSpPr txBox="1"/>
          <p:nvPr/>
        </p:nvSpPr>
        <p:spPr>
          <a:xfrm>
            <a:off x="1036221" y="10569878"/>
            <a:ext cx="18172639" cy="256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IMPACT </a:t>
            </a:r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2400"/>
              <a:t>Financial</a:t>
            </a:r>
            <a:endParaRPr i="1" sz="190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51" name="TARGET PREFORMANCE…"/>
          <p:cNvSpPr txBox="1"/>
          <p:nvPr/>
        </p:nvSpPr>
        <p:spPr>
          <a:xfrm>
            <a:off x="12927157" y="8680252"/>
            <a:ext cx="16997367" cy="198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 sz="1700"/>
              <a:t>TARGET PREFORMANCE</a:t>
            </a:r>
            <a:endParaRPr i="1" sz="1700"/>
          </a:p>
          <a:p>
            <a:pPr defTabSz="457200">
              <a:spcBef>
                <a:spcPts val="1200"/>
              </a:spcBef>
              <a:defRPr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....................................................</a:t>
            </a:r>
          </a:p>
        </p:txBody>
      </p:sp>
      <p:sp>
        <p:nvSpPr>
          <p:cNvPr id="152" name="Operational…"/>
          <p:cNvSpPr txBox="1"/>
          <p:nvPr/>
        </p:nvSpPr>
        <p:spPr>
          <a:xfrm>
            <a:off x="12970049" y="11166411"/>
            <a:ext cx="10311862" cy="186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i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Operational </a:t>
            </a:r>
            <a:endParaRPr sz="1900"/>
          </a:p>
          <a:p>
            <a:pPr defTabSz="457200">
              <a:spcBef>
                <a:spcPts val="1200"/>
              </a:spcBef>
              <a:defRPr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………………………………………..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Suppliers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Input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Process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Output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Customer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55" name="SIPOC"/>
          <p:cNvSpPr txBox="1"/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SIPOC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Table 1-1"/>
          <p:cNvGraphicFramePr/>
          <p:nvPr/>
        </p:nvGraphicFramePr>
        <p:xfrm>
          <a:off x="1362736" y="2885983"/>
          <a:ext cx="22078581" cy="973473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42983"/>
                <a:gridCol w="14763124"/>
                <a:gridCol w="4059770"/>
              </a:tblGrid>
              <a:tr h="972203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SOURCE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RAW VOC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WHY ?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972203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58" name="VOC"/>
          <p:cNvSpPr txBox="1"/>
          <p:nvPr>
            <p:ph type="title"/>
          </p:nvPr>
        </p:nvSpPr>
        <p:spPr>
          <a:xfrm>
            <a:off x="-758768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VOC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OC TO CTQ"/>
          <p:cNvSpPr txBox="1"/>
          <p:nvPr>
            <p:ph type="title"/>
          </p:nvPr>
        </p:nvSpPr>
        <p:spPr>
          <a:xfrm>
            <a:off x="-649297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VOC TO CTQ</a:t>
            </a:r>
          </a:p>
        </p:txBody>
      </p:sp>
      <p:graphicFrame>
        <p:nvGraphicFramePr>
          <p:cNvPr id="161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VOC TO CTQ"/>
          <p:cNvSpPr txBox="1"/>
          <p:nvPr>
            <p:ph type="title"/>
          </p:nvPr>
        </p:nvSpPr>
        <p:spPr>
          <a:xfrm>
            <a:off x="-6492977" y="58738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VOC TO CTQ</a:t>
            </a:r>
          </a:p>
        </p:txBody>
      </p:sp>
      <p:graphicFrame>
        <p:nvGraphicFramePr>
          <p:cNvPr id="164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VOC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NEED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CTQ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METRIC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TARGET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67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324915"/>
                <a:gridCol w="5580321"/>
                <a:gridCol w="5580321"/>
                <a:gridCol w="5580321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TYPE</a:t>
                      </a:r>
                    </a:p>
                    <a:p>
                      <a:pPr defTabSz="914400">
                        <a:defRPr sz="2100">
                          <a:sym typeface="Helvetica Neue"/>
                        </a:defRPr>
                      </a:pPr>
                      <a:r>
                        <a:t> ( INTERNAL/EXTERNAL)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ROLE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INFLUENCE AREA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68" name="IDENTIFICATION"/>
          <p:cNvSpPr txBox="1"/>
          <p:nvPr/>
        </p:nvSpPr>
        <p:spPr>
          <a:xfrm>
            <a:off x="-5226017" y="177488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IDENTIFICATION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71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POWER
 ( H/M/L )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INTEREST
 ( H/M/L )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IMPACT 
 ( H/M/L )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  <a:r>
                        <a:t>ATTITUDE </a:t>
                      </a:r>
                    </a:p>
                    <a:p>
                      <a:pPr defTabSz="914400">
                        <a:defRPr sz="1900">
                          <a:sym typeface="Helvetica Neue"/>
                        </a:defRPr>
                      </a:pPr>
                      <a:r>
                        <a:t> ( SUPPORT /NEUTRAL / RESIST )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72" name="POWER / INTEREST / IMPACT"/>
          <p:cNvSpPr txBox="1"/>
          <p:nvPr/>
        </p:nvSpPr>
        <p:spPr>
          <a:xfrm>
            <a:off x="-3447113" y="1740679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POWER / INTEREST /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75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7127386"/>
                <a:gridCol w="7469246"/>
                <a:gridCol w="74692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WHAT THEY CARE ABOUT = CTQ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CONFLICT WITH OTHERS ?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76" name="VS CTQ"/>
          <p:cNvSpPr txBox="1"/>
          <p:nvPr/>
        </p:nvSpPr>
        <p:spPr>
          <a:xfrm>
            <a:off x="-6243942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VS CTQ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79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STRATEGY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FREQUENCY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COMMUNICATION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OWNER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80" name="ENGAGEMENT STRATEGY"/>
          <p:cNvSpPr txBox="1"/>
          <p:nvPr/>
        </p:nvSpPr>
        <p:spPr>
          <a:xfrm>
            <a:off x="-3908726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ENGAGEMENT STRATEGY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83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324915"/>
                <a:gridCol w="5580321"/>
                <a:gridCol w="5580321"/>
                <a:gridCol w="5580321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FORMAL POWER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INFORMAL INFLUENCE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NETWORK STRENGTH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84" name="INFLUENCE MAP"/>
          <p:cNvSpPr txBox="1"/>
          <p:nvPr/>
        </p:nvSpPr>
        <p:spPr>
          <a:xfrm>
            <a:off x="-5157795" y="1767833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INFLUENCE MAP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87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STRATEGY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FREQUENCY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COMMUNICATION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OWNER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88" name="ENGAGEMENT STRATEGY"/>
          <p:cNvSpPr txBox="1"/>
          <p:nvPr/>
        </p:nvSpPr>
        <p:spPr>
          <a:xfrm>
            <a:off x="-3908726" y="1740679"/>
            <a:ext cx="17533618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ENGAGEMENT STRATEGY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91" name="Table 1-1"/>
          <p:cNvGraphicFramePr/>
          <p:nvPr/>
        </p:nvGraphicFramePr>
        <p:xfrm>
          <a:off x="1396946" y="3130448"/>
          <a:ext cx="22078580" cy="97347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50093"/>
                <a:gridCol w="4453946"/>
                <a:gridCol w="4453946"/>
                <a:gridCol w="4453946"/>
                <a:gridCol w="4453946"/>
              </a:tblGrid>
              <a:tr h="138886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STAKEHOLDER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RISK TO PROJECT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RISK LEVEL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REASON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FFFFFF"/>
                          </a:solidFill>
                          <a:sym typeface="Helvetica Neue"/>
                        </a:rPr>
                        <a:t>MITIGATION STRATEGY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1388861"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92" name="RISK"/>
          <p:cNvSpPr txBox="1"/>
          <p:nvPr/>
        </p:nvSpPr>
        <p:spPr>
          <a:xfrm>
            <a:off x="-6624093" y="1822140"/>
            <a:ext cx="17533617" cy="74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478790">
              <a:spcBef>
                <a:spcPts val="0"/>
              </a:spcBef>
              <a:defRPr sz="435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RISK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TAKEHOLDER ANALYSIS"/>
          <p:cNvSpPr txBox="1"/>
          <p:nvPr>
            <p:ph type="title"/>
          </p:nvPr>
        </p:nvSpPr>
        <p:spPr>
          <a:xfrm>
            <a:off x="-3927251" y="553179"/>
            <a:ext cx="20579481" cy="1080675"/>
          </a:xfrm>
          <a:prstGeom prst="rect">
            <a:avLst/>
          </a:prstGeom>
        </p:spPr>
        <p:txBody>
          <a:bodyPr anchor="b"/>
          <a:lstStyle>
            <a:lvl1pPr defTabSz="470534">
              <a:defRPr sz="6384"/>
            </a:lvl1pPr>
          </a:lstStyle>
          <a:p>
            <a:pPr/>
            <a:r>
              <a:t>STAKEHOLDER ANALYSIS</a:t>
            </a:r>
          </a:p>
        </p:txBody>
      </p:sp>
      <p:graphicFrame>
        <p:nvGraphicFramePr>
          <p:cNvPr id="195" name="Table 1-1"/>
          <p:cNvGraphicFramePr/>
          <p:nvPr/>
        </p:nvGraphicFramePr>
        <p:xfrm>
          <a:off x="1159061" y="3371591"/>
          <a:ext cx="22078578" cy="876351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7127386"/>
                <a:gridCol w="7469246"/>
                <a:gridCol w="7469246"/>
              </a:tblGrid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MATTERS THE MOST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IS RISKY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HOW YOU WILL MANAGE THEM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</a:tcPr>
                </a:tc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WILL RESIST SILENTLY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MUST YOU WIN FIRST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WHERE CONFLICT EXISTS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  <a:tr h="29169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LOSES FROM THIS CHANGE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BENEFITS THE MOST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sym typeface="Helvetica Neue"/>
                        </a:rPr>
                        <a:t>WHO CAN KILL YOUR PROJECT TOMORROW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B8B8B8"/>
                      </a:solidFill>
                      <a:miter lim="400000"/>
                    </a:lnT>
                    <a:lnB w="12700">
                      <a:solidFill>
                        <a:srgbClr val="B8B8B8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96" name="THE IDEAL ANALYSIS ANSWERS THESE QUESTIONS"/>
          <p:cNvSpPr txBox="1"/>
          <p:nvPr/>
        </p:nvSpPr>
        <p:spPr>
          <a:xfrm>
            <a:off x="-819807" y="1957909"/>
            <a:ext cx="14364593" cy="60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363220">
              <a:spcBef>
                <a:spcPts val="0"/>
              </a:spcBef>
              <a:defRPr sz="33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THE IDEAL ANALYSIS ANSWERS THESE QUESTIONS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