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Siwa" charset="1" panose="00000500000000000000"/>
      <p:regular r:id="rId24"/>
    </p:embeddedFont>
    <p:embeddedFont>
      <p:font typeface="Siwa Bold" charset="1" panose="00000800000000000000"/>
      <p:regular r:id="rId25"/>
    </p:embeddedFont>
    <p:embeddedFont>
      <p:font typeface="Bebas Neue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3.png" Type="http://schemas.openxmlformats.org/officeDocument/2006/relationships/image"/><Relationship Id="rId5" Target="../embeddings/oleObject2.bin" Type="http://schemas.openxmlformats.org/officeDocument/2006/relationships/oleObjec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embeddings/oleObject3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embeddings/oleObject4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embeddings/oleObject5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embeddings/oleObject6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embeddings/oleObject7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embeddings/oleObject8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embeddings/oleObject9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embeddings/oleObject10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embeddings/oleObject11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embeddings/oleObject12.bin" Type="http://schemas.openxmlformats.org/officeDocument/2006/relationships/oleObjec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embeddings/oleObject13.bin" Type="http://schemas.openxmlformats.org/officeDocument/2006/relationships/oleObjec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423" r="0" b="-209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38475" y="3648075"/>
            <a:ext cx="9093719" cy="298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7863"/>
              </a:lnSpc>
              <a:spcBef>
                <a:spcPct val="0"/>
              </a:spcBef>
            </a:pPr>
            <a:r>
              <a:rPr lang="ar-EG" sz="6553" strike="noStrike" u="none">
                <a:solidFill>
                  <a:srgbClr val="FFFFFF"/>
                </a:solidFill>
                <a:latin typeface="Siwa"/>
                <a:ea typeface="Siwa"/>
                <a:cs typeface="Siwa"/>
                <a:sym typeface="Siwa"/>
                <a:rtl val="true"/>
              </a:rPr>
              <a:t>ادارة كفاءة مشروع </a:t>
            </a:r>
          </a:p>
          <a:p>
            <a:pPr algn="ctr" rtl="true" marL="0" indent="0" lvl="0">
              <a:lnSpc>
                <a:spcPts val="7863"/>
              </a:lnSpc>
              <a:spcBef>
                <a:spcPct val="0"/>
              </a:spcBef>
            </a:pPr>
            <a:r>
              <a:rPr lang="ar-EG" b="true" sz="6553" strike="noStrike" u="none">
                <a:solidFill>
                  <a:srgbClr val="FFFFFF"/>
                </a:solidFill>
                <a:latin typeface="Siwa Bold"/>
                <a:ea typeface="Siwa Bold"/>
                <a:cs typeface="Siwa Bold"/>
                <a:sym typeface="Siwa Bold"/>
                <a:rtl val="true"/>
              </a:rPr>
              <a:t> </a:t>
            </a:r>
            <a:r>
              <a:rPr lang="en-US" b="true" sz="6553" strike="noStrike" u="none">
                <a:solidFill>
                  <a:srgbClr val="FFFFFF"/>
                </a:solidFill>
                <a:latin typeface="Siwa Bold"/>
                <a:ea typeface="Siwa Bold"/>
                <a:cs typeface="Siwa Bold"/>
                <a:sym typeface="Siwa Bold"/>
              </a:rPr>
              <a:t>Green Box</a:t>
            </a:r>
          </a:p>
          <a:p>
            <a:pPr algn="ctr" rtl="true" marL="0" indent="0" lvl="0">
              <a:lnSpc>
                <a:spcPts val="7863"/>
              </a:lnSpc>
              <a:spcBef>
                <a:spcPct val="0"/>
              </a:spcBef>
            </a:pPr>
            <a:r>
              <a:rPr lang="ar-EG" sz="6553" strike="noStrike" u="none">
                <a:solidFill>
                  <a:srgbClr val="FFFFFF"/>
                </a:solidFill>
                <a:latin typeface="Siwa"/>
                <a:ea typeface="Siwa"/>
                <a:cs typeface="Siwa"/>
                <a:sym typeface="Siwa"/>
                <a:rtl val="true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C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27809" y="1295892"/>
            <a:ext cx="14052949" cy="7618608"/>
            <a:chOff x="0" y="0"/>
            <a:chExt cx="6339416" cy="3436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39416" cy="3436825"/>
            </a:xfrm>
            <a:custGeom>
              <a:avLst/>
              <a:gdLst/>
              <a:ahLst/>
              <a:cxnLst/>
              <a:rect r="r" b="b" t="t" l="l"/>
              <a:pathLst>
                <a:path h="3436825" w="6339416">
                  <a:moveTo>
                    <a:pt x="33055" y="0"/>
                  </a:moveTo>
                  <a:lnTo>
                    <a:pt x="6306361" y="0"/>
                  </a:lnTo>
                  <a:cubicBezTo>
                    <a:pt x="6324617" y="0"/>
                    <a:pt x="6339416" y="14799"/>
                    <a:pt x="6339416" y="33055"/>
                  </a:cubicBezTo>
                  <a:lnTo>
                    <a:pt x="6339416" y="3403771"/>
                  </a:lnTo>
                  <a:cubicBezTo>
                    <a:pt x="6339416" y="3422026"/>
                    <a:pt x="6324617" y="3436825"/>
                    <a:pt x="6306361" y="3436825"/>
                  </a:cubicBezTo>
                  <a:lnTo>
                    <a:pt x="33055" y="3436825"/>
                  </a:lnTo>
                  <a:cubicBezTo>
                    <a:pt x="24288" y="3436825"/>
                    <a:pt x="15880" y="3433343"/>
                    <a:pt x="9681" y="3427144"/>
                  </a:cubicBezTo>
                  <a:cubicBezTo>
                    <a:pt x="3483" y="3420945"/>
                    <a:pt x="0" y="3412537"/>
                    <a:pt x="0" y="3403771"/>
                  </a:cubicBezTo>
                  <a:lnTo>
                    <a:pt x="0" y="33055"/>
                  </a:lnTo>
                  <a:cubicBezTo>
                    <a:pt x="0" y="14799"/>
                    <a:pt x="14799" y="0"/>
                    <a:pt x="33055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339416" cy="348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74191" y="2487266"/>
            <a:ext cx="1196372" cy="5235859"/>
            <a:chOff x="0" y="0"/>
            <a:chExt cx="539695" cy="23619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9695" cy="2361945"/>
            </a:xfrm>
            <a:custGeom>
              <a:avLst/>
              <a:gdLst/>
              <a:ahLst/>
              <a:cxnLst/>
              <a:rect r="r" b="b" t="t" l="l"/>
              <a:pathLst>
                <a:path h="2361945" w="539695">
                  <a:moveTo>
                    <a:pt x="232962" y="0"/>
                  </a:moveTo>
                  <a:lnTo>
                    <a:pt x="306733" y="0"/>
                  </a:lnTo>
                  <a:cubicBezTo>
                    <a:pt x="435394" y="0"/>
                    <a:pt x="539695" y="104301"/>
                    <a:pt x="539695" y="232962"/>
                  </a:cubicBezTo>
                  <a:lnTo>
                    <a:pt x="539695" y="2128983"/>
                  </a:lnTo>
                  <a:cubicBezTo>
                    <a:pt x="539695" y="2257644"/>
                    <a:pt x="435394" y="2361945"/>
                    <a:pt x="306733" y="2361945"/>
                  </a:cubicBezTo>
                  <a:lnTo>
                    <a:pt x="232962" y="2361945"/>
                  </a:lnTo>
                  <a:cubicBezTo>
                    <a:pt x="104301" y="2361945"/>
                    <a:pt x="0" y="2257644"/>
                    <a:pt x="0" y="2128983"/>
                  </a:cubicBezTo>
                  <a:lnTo>
                    <a:pt x="0" y="232962"/>
                  </a:lnTo>
                  <a:cubicBezTo>
                    <a:pt x="0" y="104301"/>
                    <a:pt x="104301" y="0"/>
                    <a:pt x="232962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39695" cy="2409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8" id="8"/>
          <p:cNvGraphicFramePr/>
          <p:nvPr/>
        </p:nvGraphicFramePr>
        <p:xfrm>
          <a:off x="9442278" y="2501964"/>
          <a:ext cx="11315700" cy="5486400"/>
        </p:xfrm>
        <a:graphic>
          <a:graphicData uri="http://schemas.openxmlformats.org/presentationml/2006/ole">
            <p:oleObj imgW="13576300" imgH="77470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9" id="9"/>
          <p:cNvGraphicFramePr/>
          <p:nvPr/>
        </p:nvGraphicFramePr>
        <p:xfrm>
          <a:off x="9442278" y="6176147"/>
          <a:ext cx="11315700" cy="5543407"/>
        </p:xfrm>
        <a:graphic>
          <a:graphicData uri="http://schemas.openxmlformats.org/presentationml/2006/ole">
            <p:oleObj imgW="13576300" imgH="78105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0" id="10"/>
          <p:cNvSpPr txBox="true"/>
          <p:nvPr/>
        </p:nvSpPr>
        <p:spPr>
          <a:xfrm rot="5400000">
            <a:off x="14921450" y="4857154"/>
            <a:ext cx="3382089" cy="415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410" spc="908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PROJECT CHARTER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83624" y="1994645"/>
            <a:ext cx="8271766" cy="1423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2"/>
              </a:lnSpc>
            </a:pPr>
            <a:r>
              <a:rPr lang="en-US" sz="1663">
                <a:solidFill>
                  <a:srgbClr val="262628"/>
                </a:solidFill>
                <a:latin typeface="Siwa"/>
                <a:ea typeface="Siwa"/>
                <a:cs typeface="Siwa"/>
                <a:sym typeface="Siwa"/>
              </a:rPr>
              <a:t>Business Case </a:t>
            </a:r>
          </a:p>
          <a:p>
            <a:pPr algn="l" marL="0" indent="0" lvl="0">
              <a:lnSpc>
                <a:spcPts val="2262"/>
              </a:lnSpc>
            </a:pPr>
          </a:p>
          <a:p>
            <a:pPr algn="l" marL="0" indent="0" lvl="0">
              <a:lnSpc>
                <a:spcPts val="2262"/>
              </a:lnSpc>
            </a:pPr>
            <a:r>
              <a:rPr lang="ar-EG" sz="1663">
                <a:solidFill>
                  <a:srgbClr val="262628"/>
                </a:solidFill>
                <a:latin typeface="Siwa"/>
                <a:ea typeface="Siwa"/>
                <a:cs typeface="Siwa"/>
                <a:sym typeface="Siwa"/>
                <a:rtl val="true"/>
              </a:rPr>
              <a:t>المشكلة توصيل متأخر (تأثير تشغيلي) واستلام خاطئ (تأثير مالي)</a:t>
            </a:r>
          </a:p>
          <a:p>
            <a:pPr algn="l" marL="0" indent="0" lvl="0">
              <a:lnSpc>
                <a:spcPts val="2262"/>
              </a:lnSpc>
            </a:pPr>
          </a:p>
          <a:p>
            <a:pPr algn="l" marL="0" indent="0" lvl="0">
              <a:lnSpc>
                <a:spcPts val="226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383624" y="4195737"/>
            <a:ext cx="6760376" cy="1709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2"/>
              </a:lnSpc>
            </a:pPr>
            <a:r>
              <a:rPr lang="en-US" sz="1663">
                <a:solidFill>
                  <a:srgbClr val="262628"/>
                </a:solidFill>
                <a:latin typeface="Siwa"/>
                <a:ea typeface="Siwa"/>
                <a:cs typeface="Siwa"/>
                <a:sym typeface="Siwa"/>
              </a:rPr>
              <a:t>Problem Statement </a:t>
            </a:r>
            <a:r>
              <a:rPr lang="en-US" sz="1663">
                <a:solidFill>
                  <a:srgbClr val="262628"/>
                </a:solidFill>
                <a:latin typeface="Siwa"/>
                <a:ea typeface="Siwa"/>
                <a:cs typeface="Siwa"/>
                <a:sym typeface="Siwa"/>
              </a:rPr>
              <a:t>(Data-based)</a:t>
            </a:r>
          </a:p>
          <a:p>
            <a:pPr algn="l" marL="0" indent="0" lvl="0">
              <a:lnSpc>
                <a:spcPts val="2262"/>
              </a:lnSpc>
            </a:pPr>
          </a:p>
          <a:p>
            <a:pPr algn="l" marL="0" indent="0" lvl="0">
              <a:lnSpc>
                <a:spcPts val="2262"/>
              </a:lnSpc>
            </a:pPr>
            <a:r>
              <a:rPr lang="ar-EG" sz="1663">
                <a:solidFill>
                  <a:srgbClr val="262628"/>
                </a:solidFill>
                <a:latin typeface="Siwa"/>
                <a:ea typeface="Siwa"/>
                <a:cs typeface="Siwa"/>
                <a:sym typeface="Siwa"/>
                <a:rtl val="true"/>
              </a:rPr>
              <a:t>الأداء الحالي سجل تأخير في خروج الشحنات</a:t>
            </a:r>
            <a:r>
              <a:rPr lang="en-US" sz="1663">
                <a:solidFill>
                  <a:srgbClr val="262628"/>
                </a:solidFill>
                <a:latin typeface="Siwa"/>
                <a:ea typeface="Siwa"/>
                <a:cs typeface="Siwa"/>
                <a:sym typeface="Siwa"/>
              </a:rPr>
              <a:t>٫</a:t>
            </a:r>
            <a:r>
              <a:rPr lang="ar-EG" sz="1663">
                <a:solidFill>
                  <a:srgbClr val="262628"/>
                </a:solidFill>
                <a:latin typeface="Siwa"/>
                <a:ea typeface="Siwa"/>
                <a:cs typeface="Siwa"/>
                <a:sym typeface="Siwa"/>
                <a:rtl val="true"/>
              </a:rPr>
              <a:t> بينما المستهدف التوصيل في الوقت المحدد حسب اتفاقية مستوى الخدمة</a:t>
            </a:r>
          </a:p>
          <a:p>
            <a:pPr algn="l" marL="0" indent="0" lvl="0">
              <a:lnSpc>
                <a:spcPts val="2262"/>
              </a:lnSpc>
            </a:pPr>
            <a:r>
              <a:rPr lang="en-US" sz="1663">
                <a:solidFill>
                  <a:srgbClr val="262628"/>
                </a:solidFill>
                <a:latin typeface="Siwa"/>
                <a:ea typeface="Siwa"/>
                <a:cs typeface="Siwa"/>
                <a:sym typeface="Siwa"/>
              </a:rPr>
              <a:t> </a:t>
            </a:r>
            <a:r>
              <a:rPr lang="ar-EG" sz="1663">
                <a:solidFill>
                  <a:srgbClr val="262628"/>
                </a:solidFill>
                <a:latin typeface="Siwa"/>
                <a:ea typeface="Siwa"/>
                <a:cs typeface="Siwa"/>
                <a:sym typeface="Siwa"/>
                <a:rtl val="true"/>
              </a:rPr>
              <a:t>مما نتج عنه انخفاض رضا العملاء وخسارتهم</a:t>
            </a:r>
            <a:r>
              <a:rPr lang="en-US" sz="1663">
                <a:solidFill>
                  <a:srgbClr val="262628"/>
                </a:solidFill>
                <a:latin typeface="Siwa"/>
                <a:ea typeface="Siwa"/>
                <a:cs typeface="Siwa"/>
                <a:sym typeface="Siwa"/>
              </a:rPr>
              <a:t>.</a:t>
            </a:r>
          </a:p>
          <a:p>
            <a:pPr algn="l" marL="0" indent="0" lvl="0">
              <a:lnSpc>
                <a:spcPts val="2262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383624" y="6932566"/>
            <a:ext cx="8271766" cy="1137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2"/>
              </a:lnSpc>
            </a:pPr>
            <a:r>
              <a:rPr lang="en-US" sz="1663">
                <a:solidFill>
                  <a:srgbClr val="262628"/>
                </a:solidFill>
                <a:latin typeface="Siwa"/>
                <a:ea typeface="Siwa"/>
                <a:cs typeface="Siwa"/>
                <a:sym typeface="Siwa"/>
              </a:rPr>
              <a:t>Goal Statement </a:t>
            </a:r>
            <a:r>
              <a:rPr lang="en-US" sz="1663">
                <a:solidFill>
                  <a:srgbClr val="262628"/>
                </a:solidFill>
                <a:latin typeface="Siwa"/>
                <a:ea typeface="Siwa"/>
                <a:cs typeface="Siwa"/>
                <a:sym typeface="Siwa"/>
              </a:rPr>
              <a:t>(SMART)</a:t>
            </a:r>
          </a:p>
          <a:p>
            <a:pPr algn="l" marL="0" indent="0" lvl="0">
              <a:lnSpc>
                <a:spcPts val="2262"/>
              </a:lnSpc>
            </a:pPr>
          </a:p>
          <a:p>
            <a:pPr algn="l" marL="0" indent="0" lvl="0">
              <a:lnSpc>
                <a:spcPts val="2262"/>
              </a:lnSpc>
            </a:pPr>
            <a:r>
              <a:rPr lang="ar-EG" sz="1663">
                <a:solidFill>
                  <a:srgbClr val="262628"/>
                </a:solidFill>
                <a:latin typeface="Siwa"/>
                <a:ea typeface="Siwa"/>
                <a:cs typeface="Siwa"/>
                <a:sym typeface="Siwa"/>
                <a:rtl val="true"/>
              </a:rPr>
              <a:t>انخفاض نسبة الطلبات المتأخرة من </a:t>
            </a:r>
            <a:r>
              <a:rPr lang="en-US" sz="1663">
                <a:solidFill>
                  <a:srgbClr val="262628"/>
                </a:solidFill>
                <a:latin typeface="Siwa"/>
                <a:ea typeface="Siwa"/>
                <a:cs typeface="Siwa"/>
                <a:sym typeface="Siwa"/>
              </a:rPr>
              <a:t>45</a:t>
            </a:r>
            <a:r>
              <a:rPr lang="ar-EG" sz="1663">
                <a:solidFill>
                  <a:srgbClr val="262628"/>
                </a:solidFill>
                <a:latin typeface="Siwa"/>
                <a:ea typeface="Siwa"/>
                <a:cs typeface="Siwa"/>
                <a:sym typeface="Siwa"/>
                <a:rtl val="true"/>
              </a:rPr>
              <a:t>% الى </a:t>
            </a:r>
            <a:r>
              <a:rPr lang="en-US" sz="1663">
                <a:solidFill>
                  <a:srgbClr val="262628"/>
                </a:solidFill>
                <a:latin typeface="Siwa"/>
                <a:ea typeface="Siwa"/>
                <a:cs typeface="Siwa"/>
                <a:sym typeface="Siwa"/>
              </a:rPr>
              <a:t>20</a:t>
            </a:r>
            <a:r>
              <a:rPr lang="ar-EG" sz="1663">
                <a:solidFill>
                  <a:srgbClr val="262628"/>
                </a:solidFill>
                <a:latin typeface="Siwa"/>
                <a:ea typeface="Siwa"/>
                <a:cs typeface="Siwa"/>
                <a:sym typeface="Siwa"/>
                <a:rtl val="true"/>
              </a:rPr>
              <a:t>% في غضون </a:t>
            </a:r>
            <a:r>
              <a:rPr lang="en-US" sz="1663">
                <a:solidFill>
                  <a:srgbClr val="262628"/>
                </a:solidFill>
                <a:latin typeface="Siwa"/>
                <a:ea typeface="Siwa"/>
                <a:cs typeface="Siwa"/>
                <a:sym typeface="Siwa"/>
              </a:rPr>
              <a:t>٣</a:t>
            </a:r>
            <a:r>
              <a:rPr lang="ar-EG" sz="1663">
                <a:solidFill>
                  <a:srgbClr val="262628"/>
                </a:solidFill>
                <a:latin typeface="Siwa"/>
                <a:ea typeface="Siwa"/>
                <a:cs typeface="Siwa"/>
                <a:sym typeface="Siwa"/>
                <a:rtl val="true"/>
              </a:rPr>
              <a:t> أشهر</a:t>
            </a:r>
            <a:r>
              <a:rPr lang="en-US" sz="1663">
                <a:solidFill>
                  <a:srgbClr val="262628"/>
                </a:solidFill>
                <a:latin typeface="Siwa"/>
                <a:ea typeface="Siwa"/>
                <a:cs typeface="Siwa"/>
                <a:sym typeface="Siwa"/>
              </a:rPr>
              <a:t>.</a:t>
            </a:r>
          </a:p>
          <a:p>
            <a:pPr algn="l" marL="0" indent="0" lvl="0">
              <a:lnSpc>
                <a:spcPts val="226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C9C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71579" y="512570"/>
            <a:ext cx="13861364" cy="1397793"/>
            <a:chOff x="0" y="0"/>
            <a:chExt cx="6017933" cy="6068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17933" cy="606854"/>
            </a:xfrm>
            <a:custGeom>
              <a:avLst/>
              <a:gdLst/>
              <a:ahLst/>
              <a:cxnLst/>
              <a:rect r="r" b="b" t="t" l="l"/>
              <a:pathLst>
                <a:path h="606854" w="6017933">
                  <a:moveTo>
                    <a:pt x="22341" y="0"/>
                  </a:moveTo>
                  <a:lnTo>
                    <a:pt x="5995592" y="0"/>
                  </a:lnTo>
                  <a:cubicBezTo>
                    <a:pt x="6001517" y="0"/>
                    <a:pt x="6007200" y="2354"/>
                    <a:pt x="6011390" y="6544"/>
                  </a:cubicBezTo>
                  <a:cubicBezTo>
                    <a:pt x="6015579" y="10733"/>
                    <a:pt x="6017933" y="16416"/>
                    <a:pt x="6017933" y="22341"/>
                  </a:cubicBezTo>
                  <a:lnTo>
                    <a:pt x="6017933" y="584513"/>
                  </a:lnTo>
                  <a:cubicBezTo>
                    <a:pt x="6017933" y="596852"/>
                    <a:pt x="6007931" y="606854"/>
                    <a:pt x="5995592" y="606854"/>
                  </a:cubicBezTo>
                  <a:lnTo>
                    <a:pt x="22341" y="606854"/>
                  </a:lnTo>
                  <a:cubicBezTo>
                    <a:pt x="10002" y="606854"/>
                    <a:pt x="0" y="596852"/>
                    <a:pt x="0" y="584513"/>
                  </a:cubicBezTo>
                  <a:lnTo>
                    <a:pt x="0" y="22341"/>
                  </a:lnTo>
                  <a:cubicBezTo>
                    <a:pt x="0" y="10002"/>
                    <a:pt x="10002" y="0"/>
                    <a:pt x="22341" y="0"/>
                  </a:cubicBezTo>
                  <a:close/>
                </a:path>
              </a:pathLst>
            </a:custGeom>
            <a:solidFill>
              <a:srgbClr val="25354D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017933" cy="654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550546" y="853088"/>
            <a:ext cx="12590351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6240"/>
              </a:lnSpc>
              <a:spcBef>
                <a:spcPct val="0"/>
              </a:spcBef>
            </a:pPr>
            <a:r>
              <a:rPr lang="en-US" b="true" sz="5200">
                <a:solidFill>
                  <a:srgbClr val="FFFFFF"/>
                </a:solidFill>
                <a:latin typeface="Siwa Bold"/>
                <a:ea typeface="Siwa Bold"/>
                <a:cs typeface="Siwa Bold"/>
                <a:sym typeface="Siwa Bold"/>
              </a:rPr>
              <a:t>PROBLEM STATEMENT</a:t>
            </a:r>
            <a:r>
              <a:rPr lang="ar-EG" b="true" sz="5200" strike="noStrike" u="none">
                <a:solidFill>
                  <a:srgbClr val="FFFFFF"/>
                </a:solidFill>
                <a:latin typeface="Siwa Bold"/>
                <a:ea typeface="Siwa Bold"/>
                <a:cs typeface="Siwa Bold"/>
                <a:sym typeface="Siwa Bold"/>
                <a:rtl val="true"/>
              </a:rPr>
              <a:t> </a:t>
            </a:r>
          </a:p>
          <a:p>
            <a:pPr algn="ctr" rtl="true" marL="0" indent="0" lvl="0">
              <a:lnSpc>
                <a:spcPts val="6240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3154172" y="4880687"/>
            <a:ext cx="2601440" cy="843615"/>
            <a:chOff x="0" y="0"/>
            <a:chExt cx="611383" cy="198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1383" cy="198264"/>
            </a:xfrm>
            <a:custGeom>
              <a:avLst/>
              <a:gdLst/>
              <a:ahLst/>
              <a:cxnLst/>
              <a:rect r="r" b="b" t="t" l="l"/>
              <a:pathLst>
                <a:path h="198264" w="611383">
                  <a:moveTo>
                    <a:pt x="99132" y="0"/>
                  </a:moveTo>
                  <a:lnTo>
                    <a:pt x="512251" y="0"/>
                  </a:lnTo>
                  <a:cubicBezTo>
                    <a:pt x="538542" y="0"/>
                    <a:pt x="563757" y="10444"/>
                    <a:pt x="582348" y="29035"/>
                  </a:cubicBezTo>
                  <a:cubicBezTo>
                    <a:pt x="600938" y="47626"/>
                    <a:pt x="611383" y="72840"/>
                    <a:pt x="611383" y="99132"/>
                  </a:cubicBezTo>
                  <a:lnTo>
                    <a:pt x="611383" y="99132"/>
                  </a:lnTo>
                  <a:cubicBezTo>
                    <a:pt x="611383" y="125423"/>
                    <a:pt x="600938" y="150638"/>
                    <a:pt x="582348" y="169229"/>
                  </a:cubicBezTo>
                  <a:cubicBezTo>
                    <a:pt x="563757" y="187820"/>
                    <a:pt x="538542" y="198264"/>
                    <a:pt x="512251" y="198264"/>
                  </a:cubicBezTo>
                  <a:lnTo>
                    <a:pt x="99132" y="198264"/>
                  </a:lnTo>
                  <a:cubicBezTo>
                    <a:pt x="72840" y="198264"/>
                    <a:pt x="47626" y="187820"/>
                    <a:pt x="29035" y="169229"/>
                  </a:cubicBezTo>
                  <a:cubicBezTo>
                    <a:pt x="10444" y="150638"/>
                    <a:pt x="0" y="125423"/>
                    <a:pt x="0" y="99132"/>
                  </a:cubicBezTo>
                  <a:lnTo>
                    <a:pt x="0" y="99132"/>
                  </a:lnTo>
                  <a:cubicBezTo>
                    <a:pt x="0" y="72840"/>
                    <a:pt x="10444" y="47626"/>
                    <a:pt x="29035" y="29035"/>
                  </a:cubicBezTo>
                  <a:cubicBezTo>
                    <a:pt x="47626" y="10444"/>
                    <a:pt x="72840" y="0"/>
                    <a:pt x="99132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611383" cy="245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083047" y="4846140"/>
            <a:ext cx="2678945" cy="973169"/>
            <a:chOff x="0" y="0"/>
            <a:chExt cx="629598" cy="2287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9598" cy="228711"/>
            </a:xfrm>
            <a:custGeom>
              <a:avLst/>
              <a:gdLst/>
              <a:ahLst/>
              <a:cxnLst/>
              <a:rect r="r" b="b" t="t" l="l"/>
              <a:pathLst>
                <a:path h="228711" w="629598">
                  <a:moveTo>
                    <a:pt x="114356" y="0"/>
                  </a:moveTo>
                  <a:lnTo>
                    <a:pt x="515242" y="0"/>
                  </a:lnTo>
                  <a:cubicBezTo>
                    <a:pt x="545571" y="0"/>
                    <a:pt x="574658" y="12048"/>
                    <a:pt x="596104" y="33494"/>
                  </a:cubicBezTo>
                  <a:cubicBezTo>
                    <a:pt x="617549" y="54940"/>
                    <a:pt x="629598" y="84027"/>
                    <a:pt x="629598" y="114356"/>
                  </a:cubicBezTo>
                  <a:lnTo>
                    <a:pt x="629598" y="114356"/>
                  </a:lnTo>
                  <a:cubicBezTo>
                    <a:pt x="629598" y="177513"/>
                    <a:pt x="578399" y="228711"/>
                    <a:pt x="515242" y="228711"/>
                  </a:cubicBezTo>
                  <a:lnTo>
                    <a:pt x="114356" y="228711"/>
                  </a:lnTo>
                  <a:cubicBezTo>
                    <a:pt x="84027" y="228711"/>
                    <a:pt x="54940" y="216663"/>
                    <a:pt x="33494" y="195217"/>
                  </a:cubicBezTo>
                  <a:cubicBezTo>
                    <a:pt x="12048" y="173772"/>
                    <a:pt x="0" y="144685"/>
                    <a:pt x="0" y="114356"/>
                  </a:cubicBezTo>
                  <a:lnTo>
                    <a:pt x="0" y="114356"/>
                  </a:lnTo>
                  <a:cubicBezTo>
                    <a:pt x="0" y="84027"/>
                    <a:pt x="12048" y="54940"/>
                    <a:pt x="33494" y="33494"/>
                  </a:cubicBezTo>
                  <a:cubicBezTo>
                    <a:pt x="54940" y="12048"/>
                    <a:pt x="84027" y="0"/>
                    <a:pt x="114356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629598" cy="276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371579" y="2443763"/>
            <a:ext cx="13861364" cy="1836030"/>
            <a:chOff x="0" y="0"/>
            <a:chExt cx="3257656" cy="4314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57656" cy="431498"/>
            </a:xfrm>
            <a:custGeom>
              <a:avLst/>
              <a:gdLst/>
              <a:ahLst/>
              <a:cxnLst/>
              <a:rect r="r" b="b" t="t" l="l"/>
              <a:pathLst>
                <a:path h="431498" w="3257656">
                  <a:moveTo>
                    <a:pt x="22341" y="0"/>
                  </a:moveTo>
                  <a:lnTo>
                    <a:pt x="3235315" y="0"/>
                  </a:lnTo>
                  <a:cubicBezTo>
                    <a:pt x="3247653" y="0"/>
                    <a:pt x="3257656" y="10002"/>
                    <a:pt x="3257656" y="22341"/>
                  </a:cubicBezTo>
                  <a:lnTo>
                    <a:pt x="3257656" y="409157"/>
                  </a:lnTo>
                  <a:cubicBezTo>
                    <a:pt x="3257656" y="421496"/>
                    <a:pt x="3247653" y="431498"/>
                    <a:pt x="3235315" y="431498"/>
                  </a:cubicBezTo>
                  <a:lnTo>
                    <a:pt x="22341" y="431498"/>
                  </a:lnTo>
                  <a:cubicBezTo>
                    <a:pt x="10002" y="431498"/>
                    <a:pt x="0" y="421496"/>
                    <a:pt x="0" y="409157"/>
                  </a:cubicBezTo>
                  <a:lnTo>
                    <a:pt x="0" y="22341"/>
                  </a:lnTo>
                  <a:cubicBezTo>
                    <a:pt x="0" y="10002"/>
                    <a:pt x="10002" y="0"/>
                    <a:pt x="2234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257656" cy="479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371579" y="2815743"/>
            <a:ext cx="13861364" cy="117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318"/>
              </a:lnSpc>
            </a:pPr>
          </a:p>
          <a:p>
            <a:pPr algn="ctr" rtl="true" marL="0" indent="0" lvl="0">
              <a:lnSpc>
                <a:spcPts val="2318"/>
              </a:lnSpc>
              <a:spcBef>
                <a:spcPct val="0"/>
              </a:spcBef>
            </a:pPr>
            <a:r>
              <a:rPr lang="ar-EG" sz="1932">
                <a:solidFill>
                  <a:srgbClr val="17140C"/>
                </a:solidFill>
                <a:latin typeface="Siwa"/>
                <a:ea typeface="Siwa"/>
                <a:cs typeface="Siwa"/>
                <a:sym typeface="Siwa"/>
                <a:rtl val="true"/>
              </a:rPr>
              <a:t>المشكلة تبدا من تأخر خروج الشحنة من المستودع ينتج عنها ارتفاع في متوسط توصيل الطلب والتسليم في الوقت المحدد </a:t>
            </a:r>
          </a:p>
          <a:p>
            <a:pPr algn="ctr" rtl="true" marL="0" indent="0" lvl="0">
              <a:lnSpc>
                <a:spcPts val="2318"/>
              </a:lnSpc>
              <a:spcBef>
                <a:spcPct val="0"/>
              </a:spcBef>
            </a:pPr>
            <a:r>
              <a:rPr lang="ar-EG" sz="1932">
                <a:solidFill>
                  <a:srgbClr val="17140C"/>
                </a:solidFill>
                <a:latin typeface="Siwa"/>
                <a:ea typeface="Siwa"/>
                <a:cs typeface="Siwa"/>
                <a:sym typeface="Siwa"/>
                <a:rtl val="true"/>
              </a:rPr>
              <a:t>والمشكلة الأخرى وصول طلبيات خاطئة نتيجة عدم  دقة العنوان  </a:t>
            </a:r>
          </a:p>
          <a:p>
            <a:pPr algn="ctr" rtl="true" marL="0" indent="0" lvl="0">
              <a:lnSpc>
                <a:spcPts val="2318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5755612" y="4834754"/>
            <a:ext cx="3090110" cy="1302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4"/>
              </a:lnSpc>
            </a:pPr>
          </a:p>
          <a:p>
            <a:pPr algn="ctr" rtl="true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145">
                <a:solidFill>
                  <a:srgbClr val="17140C"/>
                </a:solidFill>
                <a:latin typeface="Siwa"/>
                <a:ea typeface="Siwa"/>
                <a:cs typeface="Siwa"/>
                <a:sym typeface="Siwa"/>
              </a:rPr>
              <a:t>CURRENT</a:t>
            </a:r>
            <a:r>
              <a:rPr lang="en-US" sz="2145" strike="noStrike" u="none">
                <a:solidFill>
                  <a:srgbClr val="17140C"/>
                </a:solidFill>
                <a:latin typeface="Siwa"/>
                <a:ea typeface="Siwa"/>
                <a:cs typeface="Siwa"/>
                <a:sym typeface="Siwa"/>
              </a:rPr>
              <a:t> PREFORMANCE</a:t>
            </a:r>
          </a:p>
          <a:p>
            <a:pPr algn="ctr" rtl="true" marL="0" indent="0" lvl="0">
              <a:lnSpc>
                <a:spcPts val="2574"/>
              </a:lnSpc>
              <a:spcBef>
                <a:spcPct val="0"/>
              </a:spcBef>
            </a:pPr>
            <a:r>
              <a:rPr lang="en-US" sz="2145" strike="noStrike" u="none">
                <a:solidFill>
                  <a:srgbClr val="17140C"/>
                </a:solidFill>
                <a:latin typeface="Siwa"/>
                <a:ea typeface="Siwa"/>
                <a:cs typeface="Siwa"/>
                <a:sym typeface="Siwa"/>
              </a:rPr>
              <a:t>45%</a:t>
            </a:r>
          </a:p>
          <a:p>
            <a:pPr algn="ctr" rtl="true" marL="0" indent="0" lvl="0">
              <a:lnSpc>
                <a:spcPts val="2574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3599530" y="5162275"/>
            <a:ext cx="1710724" cy="413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2"/>
              </a:lnSpc>
              <a:spcBef>
                <a:spcPct val="0"/>
              </a:spcBef>
            </a:pPr>
            <a:r>
              <a:rPr lang="en-US" sz="2337" spc="88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900566" y="5079893"/>
            <a:ext cx="1028849" cy="537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5"/>
              </a:lnSpc>
              <a:spcBef>
                <a:spcPct val="0"/>
              </a:spcBef>
            </a:pPr>
            <a:r>
              <a:rPr lang="en-US" sz="3210" spc="1210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20%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6261" y="4928069"/>
            <a:ext cx="1920204" cy="618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9"/>
              </a:lnSpc>
              <a:spcBef>
                <a:spcPct val="0"/>
              </a:spcBef>
            </a:pPr>
            <a:r>
              <a:rPr lang="en-US" sz="1728" spc="65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TARGET PREFORMANCE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078035" y="6667277"/>
            <a:ext cx="2601440" cy="843615"/>
            <a:chOff x="0" y="0"/>
            <a:chExt cx="611383" cy="1982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1383" cy="198264"/>
            </a:xfrm>
            <a:custGeom>
              <a:avLst/>
              <a:gdLst/>
              <a:ahLst/>
              <a:cxnLst/>
              <a:rect r="r" b="b" t="t" l="l"/>
              <a:pathLst>
                <a:path h="198264" w="611383">
                  <a:moveTo>
                    <a:pt x="99132" y="0"/>
                  </a:moveTo>
                  <a:lnTo>
                    <a:pt x="512251" y="0"/>
                  </a:lnTo>
                  <a:cubicBezTo>
                    <a:pt x="538542" y="0"/>
                    <a:pt x="563757" y="10444"/>
                    <a:pt x="582348" y="29035"/>
                  </a:cubicBezTo>
                  <a:cubicBezTo>
                    <a:pt x="600938" y="47626"/>
                    <a:pt x="611383" y="72840"/>
                    <a:pt x="611383" y="99132"/>
                  </a:cubicBezTo>
                  <a:lnTo>
                    <a:pt x="611383" y="99132"/>
                  </a:lnTo>
                  <a:cubicBezTo>
                    <a:pt x="611383" y="125423"/>
                    <a:pt x="600938" y="150638"/>
                    <a:pt x="582348" y="169229"/>
                  </a:cubicBezTo>
                  <a:cubicBezTo>
                    <a:pt x="563757" y="187820"/>
                    <a:pt x="538542" y="198264"/>
                    <a:pt x="512251" y="198264"/>
                  </a:cubicBezTo>
                  <a:lnTo>
                    <a:pt x="99132" y="198264"/>
                  </a:lnTo>
                  <a:cubicBezTo>
                    <a:pt x="72840" y="198264"/>
                    <a:pt x="47626" y="187820"/>
                    <a:pt x="29035" y="169229"/>
                  </a:cubicBezTo>
                  <a:cubicBezTo>
                    <a:pt x="10444" y="150638"/>
                    <a:pt x="0" y="125423"/>
                    <a:pt x="0" y="99132"/>
                  </a:cubicBezTo>
                  <a:lnTo>
                    <a:pt x="0" y="99132"/>
                  </a:lnTo>
                  <a:cubicBezTo>
                    <a:pt x="0" y="72840"/>
                    <a:pt x="10444" y="47626"/>
                    <a:pt x="29035" y="29035"/>
                  </a:cubicBezTo>
                  <a:cubicBezTo>
                    <a:pt x="47626" y="10444"/>
                    <a:pt x="72840" y="0"/>
                    <a:pt x="99132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11383" cy="245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078035" y="6875271"/>
            <a:ext cx="2601440" cy="415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410" spc="908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FINANCIAL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45224" y="6320483"/>
            <a:ext cx="4236958" cy="1291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6"/>
              </a:lnSpc>
            </a:pPr>
          </a:p>
          <a:p>
            <a:pPr algn="ctr">
              <a:lnSpc>
                <a:spcPts val="2026"/>
              </a:lnSpc>
            </a:pPr>
          </a:p>
          <a:p>
            <a:pPr algn="ctr" marL="0" indent="0" lvl="0">
              <a:lnSpc>
                <a:spcPts val="2026"/>
              </a:lnSpc>
              <a:spcBef>
                <a:spcPct val="0"/>
              </a:spcBef>
            </a:pPr>
            <a:r>
              <a:rPr lang="ar-EG" sz="1688" spc="636">
                <a:solidFill>
                  <a:srgbClr val="17140C"/>
                </a:solidFill>
                <a:latin typeface="Siwa"/>
                <a:ea typeface="Siwa"/>
                <a:cs typeface="Siwa"/>
                <a:sym typeface="Siwa"/>
                <a:rtl val="true"/>
              </a:rPr>
              <a:t>صرف أجور ساعات عمل إضافية</a:t>
            </a:r>
            <a:r>
              <a:rPr lang="ar-EG" sz="1688" spc="636" strike="noStrike" u="none">
                <a:solidFill>
                  <a:srgbClr val="17140C"/>
                </a:solidFill>
                <a:latin typeface="Siwa"/>
                <a:ea typeface="Siwa"/>
                <a:cs typeface="Siwa"/>
                <a:sym typeface="Siwa"/>
                <a:rtl val="true"/>
              </a:rPr>
              <a:t>  للسائقين</a:t>
            </a:r>
          </a:p>
          <a:p>
            <a:pPr algn="ctr" marL="0" indent="0" lvl="0">
              <a:lnSpc>
                <a:spcPts val="2026"/>
              </a:lnSpc>
              <a:spcBef>
                <a:spcPct val="0"/>
              </a:spcBef>
            </a:pPr>
            <a:r>
              <a:rPr lang="en-US" sz="1688" spc="636" strike="noStrike" u="none">
                <a:solidFill>
                  <a:srgbClr val="17140C"/>
                </a:solidFill>
                <a:latin typeface="Siwa"/>
                <a:ea typeface="Siwa"/>
                <a:cs typeface="Siwa"/>
                <a:sym typeface="Siwa"/>
              </a:rPr>
              <a:t> </a:t>
            </a:r>
            <a:r>
              <a:rPr lang="ar-EG" sz="1688" spc="636" strike="noStrike" u="none">
                <a:solidFill>
                  <a:srgbClr val="17140C"/>
                </a:solidFill>
                <a:latin typeface="Siwa"/>
                <a:ea typeface="Siwa"/>
                <a:cs typeface="Siwa"/>
                <a:sym typeface="Siwa"/>
                <a:rtl val="true"/>
              </a:rPr>
              <a:t>لتغطية التأخير وضمان وصول الشحنات</a:t>
            </a:r>
          </a:p>
          <a:p>
            <a:pPr algn="ctr" rtl="true" marL="0" indent="0" lvl="0">
              <a:lnSpc>
                <a:spcPts val="2026"/>
              </a:lnSpc>
              <a:spcBef>
                <a:spcPct val="0"/>
              </a:spcBef>
            </a:pPr>
          </a:p>
        </p:txBody>
      </p:sp>
      <p:grpSp>
        <p:nvGrpSpPr>
          <p:cNvPr name="Group 25" id="25"/>
          <p:cNvGrpSpPr/>
          <p:nvPr/>
        </p:nvGrpSpPr>
        <p:grpSpPr>
          <a:xfrm rot="0">
            <a:off x="11160552" y="6601941"/>
            <a:ext cx="2601440" cy="843615"/>
            <a:chOff x="0" y="0"/>
            <a:chExt cx="611383" cy="1982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11383" cy="198264"/>
            </a:xfrm>
            <a:custGeom>
              <a:avLst/>
              <a:gdLst/>
              <a:ahLst/>
              <a:cxnLst/>
              <a:rect r="r" b="b" t="t" l="l"/>
              <a:pathLst>
                <a:path h="198264" w="611383">
                  <a:moveTo>
                    <a:pt x="99132" y="0"/>
                  </a:moveTo>
                  <a:lnTo>
                    <a:pt x="512251" y="0"/>
                  </a:lnTo>
                  <a:cubicBezTo>
                    <a:pt x="538542" y="0"/>
                    <a:pt x="563757" y="10444"/>
                    <a:pt x="582348" y="29035"/>
                  </a:cubicBezTo>
                  <a:cubicBezTo>
                    <a:pt x="600938" y="47626"/>
                    <a:pt x="611383" y="72840"/>
                    <a:pt x="611383" y="99132"/>
                  </a:cubicBezTo>
                  <a:lnTo>
                    <a:pt x="611383" y="99132"/>
                  </a:lnTo>
                  <a:cubicBezTo>
                    <a:pt x="611383" y="125423"/>
                    <a:pt x="600938" y="150638"/>
                    <a:pt x="582348" y="169229"/>
                  </a:cubicBezTo>
                  <a:cubicBezTo>
                    <a:pt x="563757" y="187820"/>
                    <a:pt x="538542" y="198264"/>
                    <a:pt x="512251" y="198264"/>
                  </a:cubicBezTo>
                  <a:lnTo>
                    <a:pt x="99132" y="198264"/>
                  </a:lnTo>
                  <a:cubicBezTo>
                    <a:pt x="72840" y="198264"/>
                    <a:pt x="47626" y="187820"/>
                    <a:pt x="29035" y="169229"/>
                  </a:cubicBezTo>
                  <a:cubicBezTo>
                    <a:pt x="10444" y="150638"/>
                    <a:pt x="0" y="125423"/>
                    <a:pt x="0" y="99132"/>
                  </a:cubicBezTo>
                  <a:lnTo>
                    <a:pt x="0" y="99132"/>
                  </a:lnTo>
                  <a:cubicBezTo>
                    <a:pt x="0" y="72840"/>
                    <a:pt x="10444" y="47626"/>
                    <a:pt x="29035" y="29035"/>
                  </a:cubicBezTo>
                  <a:cubicBezTo>
                    <a:pt x="47626" y="10444"/>
                    <a:pt x="72840" y="0"/>
                    <a:pt x="99132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611383" cy="245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1355067" y="6815289"/>
            <a:ext cx="2212409" cy="369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5"/>
              </a:lnSpc>
              <a:spcBef>
                <a:spcPct val="0"/>
              </a:spcBef>
            </a:pPr>
            <a:r>
              <a:rPr lang="en-US" sz="2110" spc="795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OPERATIONAL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643676" y="6245708"/>
            <a:ext cx="3733288" cy="1344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1"/>
              </a:lnSpc>
            </a:pPr>
          </a:p>
          <a:p>
            <a:pPr algn="ctr">
              <a:lnSpc>
                <a:spcPts val="2111"/>
              </a:lnSpc>
            </a:pPr>
          </a:p>
          <a:p>
            <a:pPr algn="ctr" marL="0" indent="0" lvl="0">
              <a:lnSpc>
                <a:spcPts val="2111"/>
              </a:lnSpc>
              <a:spcBef>
                <a:spcPct val="0"/>
              </a:spcBef>
            </a:pPr>
            <a:r>
              <a:rPr lang="ar-EG" sz="1759" spc="663">
                <a:solidFill>
                  <a:srgbClr val="17140C"/>
                </a:solidFill>
                <a:latin typeface="Siwa"/>
                <a:ea typeface="Siwa"/>
                <a:cs typeface="Siwa"/>
                <a:sym typeface="Siwa"/>
                <a:rtl val="true"/>
              </a:rPr>
              <a:t>الجهد الإضافي على السائق أثر على الكفاءة والأداء العام لتسليم</a:t>
            </a:r>
            <a:r>
              <a:rPr lang="ar-EG" sz="1759" spc="663" strike="noStrike" u="none">
                <a:solidFill>
                  <a:srgbClr val="17140C"/>
                </a:solidFill>
                <a:latin typeface="Siwa"/>
                <a:ea typeface="Siwa"/>
                <a:cs typeface="Siwa"/>
                <a:sym typeface="Siwa"/>
                <a:rtl val="true"/>
              </a:rPr>
              <a:t> الطلبات</a:t>
            </a:r>
          </a:p>
          <a:p>
            <a:pPr algn="ctr" rtl="true" marL="0" indent="0" lvl="0">
              <a:lnSpc>
                <a:spcPts val="211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C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1318" y="121073"/>
            <a:ext cx="2317996" cy="1095543"/>
            <a:chOff x="0" y="0"/>
            <a:chExt cx="541440" cy="2558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1440" cy="255898"/>
            </a:xfrm>
            <a:custGeom>
              <a:avLst/>
              <a:gdLst/>
              <a:ahLst/>
              <a:cxnLst/>
              <a:rect r="r" b="b" t="t" l="l"/>
              <a:pathLst>
                <a:path h="255898" w="541440">
                  <a:moveTo>
                    <a:pt x="127949" y="0"/>
                  </a:moveTo>
                  <a:lnTo>
                    <a:pt x="413491" y="0"/>
                  </a:lnTo>
                  <a:cubicBezTo>
                    <a:pt x="484155" y="0"/>
                    <a:pt x="541440" y="57285"/>
                    <a:pt x="541440" y="127949"/>
                  </a:cubicBezTo>
                  <a:lnTo>
                    <a:pt x="541440" y="127949"/>
                  </a:lnTo>
                  <a:cubicBezTo>
                    <a:pt x="541440" y="198614"/>
                    <a:pt x="484155" y="255898"/>
                    <a:pt x="413491" y="255898"/>
                  </a:cubicBezTo>
                  <a:lnTo>
                    <a:pt x="127949" y="255898"/>
                  </a:lnTo>
                  <a:cubicBezTo>
                    <a:pt x="57285" y="255898"/>
                    <a:pt x="0" y="198614"/>
                    <a:pt x="0" y="127949"/>
                  </a:cubicBezTo>
                  <a:lnTo>
                    <a:pt x="0" y="127949"/>
                  </a:lnTo>
                  <a:cubicBezTo>
                    <a:pt x="0" y="57285"/>
                    <a:pt x="57285" y="0"/>
                    <a:pt x="127949" y="0"/>
                  </a:cubicBezTo>
                  <a:close/>
                </a:path>
              </a:pathLst>
            </a:custGeom>
            <a:solidFill>
              <a:srgbClr val="25354D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41440" cy="3035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1028700" y="1447813"/>
          <a:ext cx="6286500" cy="9689878"/>
        </p:xfrm>
        <a:graphic>
          <a:graphicData uri="http://schemas.openxmlformats.org/presentationml/2006/ole">
            <p:oleObj imgW="8216900" imgH="11620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345865" y="519781"/>
            <a:ext cx="2452092" cy="479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3147">
                <a:solidFill>
                  <a:srgbClr val="FFFFFF"/>
                </a:solidFill>
                <a:latin typeface="Siwa Bold"/>
                <a:ea typeface="Siwa Bold"/>
                <a:cs typeface="Siwa Bold"/>
                <a:sym typeface="Siwa Bold"/>
              </a:rPr>
              <a:t>SIP</a:t>
            </a:r>
            <a:r>
              <a:rPr lang="en-US" b="true" sz="3147">
                <a:solidFill>
                  <a:srgbClr val="FFFFFF"/>
                </a:solidFill>
                <a:latin typeface="Siwa Bold"/>
                <a:ea typeface="Siwa Bold"/>
                <a:cs typeface="Siwa Bold"/>
                <a:sym typeface="Siwa Bold"/>
              </a:rPr>
              <a:t>OC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C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0411" y="390187"/>
            <a:ext cx="2701185" cy="1277027"/>
            <a:chOff x="0" y="0"/>
            <a:chExt cx="630946" cy="2982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0946" cy="298289"/>
            </a:xfrm>
            <a:custGeom>
              <a:avLst/>
              <a:gdLst/>
              <a:ahLst/>
              <a:cxnLst/>
              <a:rect r="r" b="b" t="t" l="l"/>
              <a:pathLst>
                <a:path h="298289" w="630946">
                  <a:moveTo>
                    <a:pt x="114645" y="0"/>
                  </a:moveTo>
                  <a:lnTo>
                    <a:pt x="516301" y="0"/>
                  </a:lnTo>
                  <a:cubicBezTo>
                    <a:pt x="579618" y="0"/>
                    <a:pt x="630946" y="51328"/>
                    <a:pt x="630946" y="114645"/>
                  </a:cubicBezTo>
                  <a:lnTo>
                    <a:pt x="630946" y="183645"/>
                  </a:lnTo>
                  <a:cubicBezTo>
                    <a:pt x="630946" y="214050"/>
                    <a:pt x="618867" y="243211"/>
                    <a:pt x="597367" y="264711"/>
                  </a:cubicBezTo>
                  <a:cubicBezTo>
                    <a:pt x="575867" y="286211"/>
                    <a:pt x="546707" y="298289"/>
                    <a:pt x="516301" y="298289"/>
                  </a:cubicBezTo>
                  <a:lnTo>
                    <a:pt x="114645" y="298289"/>
                  </a:lnTo>
                  <a:cubicBezTo>
                    <a:pt x="51328" y="298289"/>
                    <a:pt x="0" y="246961"/>
                    <a:pt x="0" y="183645"/>
                  </a:cubicBezTo>
                  <a:lnTo>
                    <a:pt x="0" y="114645"/>
                  </a:lnTo>
                  <a:cubicBezTo>
                    <a:pt x="0" y="84239"/>
                    <a:pt x="12079" y="55079"/>
                    <a:pt x="33579" y="33579"/>
                  </a:cubicBezTo>
                  <a:cubicBezTo>
                    <a:pt x="55079" y="12079"/>
                    <a:pt x="84239" y="0"/>
                    <a:pt x="114645" y="0"/>
                  </a:cubicBezTo>
                  <a:close/>
                </a:path>
              </a:pathLst>
            </a:custGeom>
            <a:solidFill>
              <a:srgbClr val="25354D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30946" cy="345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693632" y="1856761"/>
          <a:ext cx="3771900" cy="9651683"/>
        </p:xfrm>
        <a:graphic>
          <a:graphicData uri="http://schemas.openxmlformats.org/presentationml/2006/ole">
            <p:oleObj imgW="5702300" imgH="115824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70411" y="788895"/>
            <a:ext cx="2452092" cy="479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3147">
                <a:solidFill>
                  <a:srgbClr val="FFFFFF"/>
                </a:solidFill>
                <a:latin typeface="Siwa Bold"/>
                <a:ea typeface="Siwa Bold"/>
                <a:cs typeface="Siwa Bold"/>
                <a:sym typeface="Siwa Bold"/>
              </a:rPr>
              <a:t>VOC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C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772" y="145079"/>
            <a:ext cx="2701185" cy="1277027"/>
            <a:chOff x="0" y="0"/>
            <a:chExt cx="630946" cy="2982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0946" cy="298289"/>
            </a:xfrm>
            <a:custGeom>
              <a:avLst/>
              <a:gdLst/>
              <a:ahLst/>
              <a:cxnLst/>
              <a:rect r="r" b="b" t="t" l="l"/>
              <a:pathLst>
                <a:path h="298289" w="630946">
                  <a:moveTo>
                    <a:pt x="114645" y="0"/>
                  </a:moveTo>
                  <a:lnTo>
                    <a:pt x="516301" y="0"/>
                  </a:lnTo>
                  <a:cubicBezTo>
                    <a:pt x="579618" y="0"/>
                    <a:pt x="630946" y="51328"/>
                    <a:pt x="630946" y="114645"/>
                  </a:cubicBezTo>
                  <a:lnTo>
                    <a:pt x="630946" y="183645"/>
                  </a:lnTo>
                  <a:cubicBezTo>
                    <a:pt x="630946" y="214050"/>
                    <a:pt x="618867" y="243211"/>
                    <a:pt x="597367" y="264711"/>
                  </a:cubicBezTo>
                  <a:cubicBezTo>
                    <a:pt x="575867" y="286211"/>
                    <a:pt x="546707" y="298289"/>
                    <a:pt x="516301" y="298289"/>
                  </a:cubicBezTo>
                  <a:lnTo>
                    <a:pt x="114645" y="298289"/>
                  </a:lnTo>
                  <a:cubicBezTo>
                    <a:pt x="51328" y="298289"/>
                    <a:pt x="0" y="246961"/>
                    <a:pt x="0" y="183645"/>
                  </a:cubicBezTo>
                  <a:lnTo>
                    <a:pt x="0" y="114645"/>
                  </a:lnTo>
                  <a:cubicBezTo>
                    <a:pt x="0" y="84239"/>
                    <a:pt x="12079" y="55079"/>
                    <a:pt x="33579" y="33579"/>
                  </a:cubicBezTo>
                  <a:cubicBezTo>
                    <a:pt x="55079" y="12079"/>
                    <a:pt x="84239" y="0"/>
                    <a:pt x="114645" y="0"/>
                  </a:cubicBezTo>
                  <a:close/>
                </a:path>
              </a:pathLst>
            </a:custGeom>
            <a:solidFill>
              <a:srgbClr val="25354D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30946" cy="345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1028700" y="1591416"/>
          <a:ext cx="6286500" cy="9689878"/>
        </p:xfrm>
        <a:graphic>
          <a:graphicData uri="http://schemas.openxmlformats.org/presentationml/2006/ole">
            <p:oleObj imgW="8216900" imgH="11620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221318" y="440969"/>
            <a:ext cx="2452092" cy="1438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6"/>
              </a:lnSpc>
            </a:pPr>
            <a:r>
              <a:rPr lang="en-US" b="true" sz="3147">
                <a:solidFill>
                  <a:srgbClr val="FFFFFF"/>
                </a:solidFill>
                <a:latin typeface="Siwa Bold"/>
                <a:ea typeface="Siwa Bold"/>
                <a:cs typeface="Siwa Bold"/>
                <a:sym typeface="Siwa Bold"/>
              </a:rPr>
              <a:t>VOC TO CTQ - DIRECT</a:t>
            </a:r>
          </a:p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C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9036"/>
            <a:ext cx="2701185" cy="1277027"/>
            <a:chOff x="0" y="0"/>
            <a:chExt cx="630946" cy="2982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0946" cy="298289"/>
            </a:xfrm>
            <a:custGeom>
              <a:avLst/>
              <a:gdLst/>
              <a:ahLst/>
              <a:cxnLst/>
              <a:rect r="r" b="b" t="t" l="l"/>
              <a:pathLst>
                <a:path h="298289" w="630946">
                  <a:moveTo>
                    <a:pt x="114645" y="0"/>
                  </a:moveTo>
                  <a:lnTo>
                    <a:pt x="516301" y="0"/>
                  </a:lnTo>
                  <a:cubicBezTo>
                    <a:pt x="579618" y="0"/>
                    <a:pt x="630946" y="51328"/>
                    <a:pt x="630946" y="114645"/>
                  </a:cubicBezTo>
                  <a:lnTo>
                    <a:pt x="630946" y="183645"/>
                  </a:lnTo>
                  <a:cubicBezTo>
                    <a:pt x="630946" y="214050"/>
                    <a:pt x="618867" y="243211"/>
                    <a:pt x="597367" y="264711"/>
                  </a:cubicBezTo>
                  <a:cubicBezTo>
                    <a:pt x="575867" y="286211"/>
                    <a:pt x="546707" y="298289"/>
                    <a:pt x="516301" y="298289"/>
                  </a:cubicBezTo>
                  <a:lnTo>
                    <a:pt x="114645" y="298289"/>
                  </a:lnTo>
                  <a:cubicBezTo>
                    <a:pt x="51328" y="298289"/>
                    <a:pt x="0" y="246961"/>
                    <a:pt x="0" y="183645"/>
                  </a:cubicBezTo>
                  <a:lnTo>
                    <a:pt x="0" y="114645"/>
                  </a:lnTo>
                  <a:cubicBezTo>
                    <a:pt x="0" y="84239"/>
                    <a:pt x="12079" y="55079"/>
                    <a:pt x="33579" y="33579"/>
                  </a:cubicBezTo>
                  <a:cubicBezTo>
                    <a:pt x="55079" y="12079"/>
                    <a:pt x="84239" y="0"/>
                    <a:pt x="114645" y="0"/>
                  </a:cubicBezTo>
                  <a:close/>
                </a:path>
              </a:pathLst>
            </a:custGeom>
            <a:solidFill>
              <a:srgbClr val="25354D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30946" cy="345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1350592" y="1257991"/>
          <a:ext cx="6286500" cy="9689878"/>
        </p:xfrm>
        <a:graphic>
          <a:graphicData uri="http://schemas.openxmlformats.org/presentationml/2006/ole">
            <p:oleObj imgW="8216900" imgH="11620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96772" y="32297"/>
            <a:ext cx="2452092" cy="1438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6"/>
              </a:lnSpc>
            </a:pPr>
            <a:r>
              <a:rPr lang="en-US" b="true" sz="3147">
                <a:solidFill>
                  <a:srgbClr val="FFFFFF"/>
                </a:solidFill>
                <a:latin typeface="Siwa Bold"/>
                <a:ea typeface="Siwa Bold"/>
                <a:cs typeface="Siwa Bold"/>
                <a:sym typeface="Siwa Bold"/>
              </a:rPr>
              <a:t>VOC TO CTQ - INDIRECT </a:t>
            </a:r>
          </a:p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C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30853" y="1729373"/>
            <a:ext cx="11806662" cy="755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5999"/>
              </a:lnSpc>
              <a:spcBef>
                <a:spcPct val="0"/>
              </a:spcBef>
            </a:pPr>
            <a:r>
              <a:rPr lang="ar-EG" b="true" sz="4999">
                <a:solidFill>
                  <a:srgbClr val="25354D"/>
                </a:solidFill>
                <a:latin typeface="Siwa Bold"/>
                <a:ea typeface="Siwa Bold"/>
                <a:cs typeface="Siwa Bold"/>
                <a:sym typeface="Siwa Bold"/>
                <a:rtl val="true"/>
              </a:rPr>
              <a:t>رسالة الادارة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468116" y="2576626"/>
            <a:ext cx="5684805" cy="6662347"/>
            <a:chOff x="0" y="0"/>
            <a:chExt cx="1327864" cy="15561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27864" cy="1556199"/>
            </a:xfrm>
            <a:custGeom>
              <a:avLst/>
              <a:gdLst/>
              <a:ahLst/>
              <a:cxnLst/>
              <a:rect r="r" b="b" t="t" l="l"/>
              <a:pathLst>
                <a:path h="1556199" w="1327864">
                  <a:moveTo>
                    <a:pt x="74902" y="0"/>
                  </a:moveTo>
                  <a:lnTo>
                    <a:pt x="1252962" y="0"/>
                  </a:lnTo>
                  <a:cubicBezTo>
                    <a:pt x="1294329" y="0"/>
                    <a:pt x="1327864" y="33535"/>
                    <a:pt x="1327864" y="74902"/>
                  </a:cubicBezTo>
                  <a:lnTo>
                    <a:pt x="1327864" y="1481297"/>
                  </a:lnTo>
                  <a:cubicBezTo>
                    <a:pt x="1327864" y="1522664"/>
                    <a:pt x="1294329" y="1556199"/>
                    <a:pt x="1252962" y="1556199"/>
                  </a:cubicBezTo>
                  <a:lnTo>
                    <a:pt x="74902" y="1556199"/>
                  </a:lnTo>
                  <a:cubicBezTo>
                    <a:pt x="33535" y="1556199"/>
                    <a:pt x="0" y="1522664"/>
                    <a:pt x="0" y="1481297"/>
                  </a:cubicBezTo>
                  <a:lnTo>
                    <a:pt x="0" y="74902"/>
                  </a:lnTo>
                  <a:cubicBezTo>
                    <a:pt x="0" y="33535"/>
                    <a:pt x="33535" y="0"/>
                    <a:pt x="74902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27864" cy="1603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168471" y="1028700"/>
            <a:ext cx="813662" cy="579919"/>
          </a:xfrm>
          <a:custGeom>
            <a:avLst/>
            <a:gdLst/>
            <a:ahLst/>
            <a:cxnLst/>
            <a:rect r="r" b="b" t="t" l="l"/>
            <a:pathLst>
              <a:path h="579919" w="813662">
                <a:moveTo>
                  <a:pt x="0" y="0"/>
                </a:moveTo>
                <a:lnTo>
                  <a:pt x="813662" y="0"/>
                </a:lnTo>
                <a:lnTo>
                  <a:pt x="813662" y="579919"/>
                </a:lnTo>
                <a:lnTo>
                  <a:pt x="0" y="5799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20691" y="1710323"/>
            <a:ext cx="1180666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5759"/>
              </a:lnSpc>
              <a:spcBef>
                <a:spcPct val="0"/>
              </a:spcBef>
            </a:pPr>
            <a:r>
              <a:rPr lang="ar-EG" b="true" sz="4800">
                <a:solidFill>
                  <a:srgbClr val="25354D"/>
                </a:solidFill>
                <a:latin typeface="Siwa Bold"/>
                <a:ea typeface="Siwa Bold"/>
                <a:cs typeface="Siwa Bold"/>
                <a:sym typeface="Siwa Bold"/>
                <a:rtl val="true"/>
              </a:rPr>
              <a:t>رسالة الفريق التشغيلي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281620" y="2576626"/>
            <a:ext cx="5684805" cy="6662347"/>
            <a:chOff x="0" y="0"/>
            <a:chExt cx="1327864" cy="15561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27864" cy="1556199"/>
            </a:xfrm>
            <a:custGeom>
              <a:avLst/>
              <a:gdLst/>
              <a:ahLst/>
              <a:cxnLst/>
              <a:rect r="r" b="b" t="t" l="l"/>
              <a:pathLst>
                <a:path h="1556199" w="1327864">
                  <a:moveTo>
                    <a:pt x="74902" y="0"/>
                  </a:moveTo>
                  <a:lnTo>
                    <a:pt x="1252962" y="0"/>
                  </a:lnTo>
                  <a:cubicBezTo>
                    <a:pt x="1294329" y="0"/>
                    <a:pt x="1327864" y="33535"/>
                    <a:pt x="1327864" y="74902"/>
                  </a:cubicBezTo>
                  <a:lnTo>
                    <a:pt x="1327864" y="1481297"/>
                  </a:lnTo>
                  <a:cubicBezTo>
                    <a:pt x="1327864" y="1522664"/>
                    <a:pt x="1294329" y="1556199"/>
                    <a:pt x="1252962" y="1556199"/>
                  </a:cubicBezTo>
                  <a:lnTo>
                    <a:pt x="74902" y="1556199"/>
                  </a:lnTo>
                  <a:cubicBezTo>
                    <a:pt x="33535" y="1556199"/>
                    <a:pt x="0" y="1522664"/>
                    <a:pt x="0" y="1481297"/>
                  </a:cubicBezTo>
                  <a:lnTo>
                    <a:pt x="0" y="74902"/>
                  </a:lnTo>
                  <a:cubicBezTo>
                    <a:pt x="0" y="33535"/>
                    <a:pt x="33535" y="0"/>
                    <a:pt x="74902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327864" cy="1603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717191" y="1028700"/>
            <a:ext cx="813662" cy="579919"/>
          </a:xfrm>
          <a:custGeom>
            <a:avLst/>
            <a:gdLst/>
            <a:ahLst/>
            <a:cxnLst/>
            <a:rect r="r" b="b" t="t" l="l"/>
            <a:pathLst>
              <a:path h="579919" w="813662">
                <a:moveTo>
                  <a:pt x="0" y="0"/>
                </a:moveTo>
                <a:lnTo>
                  <a:pt x="813662" y="0"/>
                </a:lnTo>
                <a:lnTo>
                  <a:pt x="813662" y="579919"/>
                </a:lnTo>
                <a:lnTo>
                  <a:pt x="0" y="5799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-3049515" y="1713394"/>
            <a:ext cx="11806662" cy="755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5999"/>
              </a:lnSpc>
              <a:spcBef>
                <a:spcPct val="0"/>
              </a:spcBef>
            </a:pPr>
            <a:r>
              <a:rPr lang="ar-EG" b="true" sz="4999">
                <a:solidFill>
                  <a:srgbClr val="25354D"/>
                </a:solidFill>
                <a:latin typeface="Siwa Bold"/>
                <a:ea typeface="Siwa Bold"/>
                <a:cs typeface="Siwa Bold"/>
                <a:sym typeface="Siwa Bold"/>
                <a:rtl val="true"/>
              </a:rPr>
              <a:t>رسالة الامتثال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00728" y="2576626"/>
            <a:ext cx="5684805" cy="6662347"/>
            <a:chOff x="0" y="0"/>
            <a:chExt cx="1327864" cy="15561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27864" cy="1556199"/>
            </a:xfrm>
            <a:custGeom>
              <a:avLst/>
              <a:gdLst/>
              <a:ahLst/>
              <a:cxnLst/>
              <a:rect r="r" b="b" t="t" l="l"/>
              <a:pathLst>
                <a:path h="1556199" w="1327864">
                  <a:moveTo>
                    <a:pt x="74902" y="0"/>
                  </a:moveTo>
                  <a:lnTo>
                    <a:pt x="1252962" y="0"/>
                  </a:lnTo>
                  <a:cubicBezTo>
                    <a:pt x="1294329" y="0"/>
                    <a:pt x="1327864" y="33535"/>
                    <a:pt x="1327864" y="74902"/>
                  </a:cubicBezTo>
                  <a:lnTo>
                    <a:pt x="1327864" y="1481297"/>
                  </a:lnTo>
                  <a:cubicBezTo>
                    <a:pt x="1327864" y="1522664"/>
                    <a:pt x="1294329" y="1556199"/>
                    <a:pt x="1252962" y="1556199"/>
                  </a:cubicBezTo>
                  <a:lnTo>
                    <a:pt x="74902" y="1556199"/>
                  </a:lnTo>
                  <a:cubicBezTo>
                    <a:pt x="33535" y="1556199"/>
                    <a:pt x="0" y="1522664"/>
                    <a:pt x="0" y="1481297"/>
                  </a:cubicBezTo>
                  <a:lnTo>
                    <a:pt x="0" y="74902"/>
                  </a:lnTo>
                  <a:cubicBezTo>
                    <a:pt x="0" y="33535"/>
                    <a:pt x="33535" y="0"/>
                    <a:pt x="74902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327864" cy="1603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446985" y="1028700"/>
            <a:ext cx="813662" cy="579919"/>
          </a:xfrm>
          <a:custGeom>
            <a:avLst/>
            <a:gdLst/>
            <a:ahLst/>
            <a:cxnLst/>
            <a:rect r="r" b="b" t="t" l="l"/>
            <a:pathLst>
              <a:path h="579919" w="813662">
                <a:moveTo>
                  <a:pt x="0" y="0"/>
                </a:moveTo>
                <a:lnTo>
                  <a:pt x="813662" y="0"/>
                </a:lnTo>
                <a:lnTo>
                  <a:pt x="813662" y="579919"/>
                </a:lnTo>
                <a:lnTo>
                  <a:pt x="0" y="5799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787725" y="4010389"/>
            <a:ext cx="5045589" cy="3134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145"/>
              </a:lnSpc>
              <a:spcBef>
                <a:spcPct val="0"/>
              </a:spcBef>
            </a:pPr>
            <a:r>
              <a:rPr lang="ar-EG" sz="2960" spc="1116">
                <a:solidFill>
                  <a:srgbClr val="25354D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"ارتفاع التكاليف التشغيلية بنسبة </a:t>
            </a:r>
            <a:r>
              <a:rPr lang="en-US" sz="2960" spc="1116">
                <a:solidFill>
                  <a:srgbClr val="25354D"/>
                </a:solidFill>
                <a:latin typeface="Bebas Neue"/>
                <a:ea typeface="Bebas Neue"/>
                <a:cs typeface="Bebas Neue"/>
                <a:sym typeface="Bebas Neue"/>
              </a:rPr>
              <a:t>35</a:t>
            </a:r>
            <a:r>
              <a:rPr lang="ar-EG" sz="2960" spc="1116">
                <a:solidFill>
                  <a:srgbClr val="25354D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% نتيجة تأخير تسليم الطلبات حيث تم صرف أجور ساعات عمل إضافية للسائقين لتغطية التأخير وضمان وصول الشحنات."</a:t>
            </a:r>
          </a:p>
          <a:p>
            <a:pPr algn="ctr" rtl="true">
              <a:lnSpc>
                <a:spcPts val="4145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875917" y="4019914"/>
            <a:ext cx="4601816" cy="224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497"/>
              </a:lnSpc>
              <a:spcBef>
                <a:spcPct val="0"/>
              </a:spcBef>
            </a:pPr>
            <a:r>
              <a:rPr lang="ar-EG" sz="3212" spc="1211">
                <a:solidFill>
                  <a:srgbClr val="25354D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 </a:t>
            </a:r>
            <a:r>
              <a:rPr lang="ar-EG" sz="3212" spc="1211">
                <a:solidFill>
                  <a:srgbClr val="25354D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"رصدنا زيادة في نسبة تأخر الطلبات بنسبة </a:t>
            </a:r>
            <a:r>
              <a:rPr lang="en-US" sz="3212" spc="1211">
                <a:solidFill>
                  <a:srgbClr val="25354D"/>
                </a:solidFill>
                <a:latin typeface="Bebas Neue"/>
                <a:ea typeface="Bebas Neue"/>
                <a:cs typeface="Bebas Neue"/>
                <a:sym typeface="Bebas Neue"/>
              </a:rPr>
              <a:t>20</a:t>
            </a:r>
            <a:r>
              <a:rPr lang="ar-EG" sz="3212" spc="1211">
                <a:solidFill>
                  <a:srgbClr val="25354D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% نطلب تحليل شامل بالأسباب الفنية واللوجستية التي ادت للتأخير."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3139" y="3617802"/>
            <a:ext cx="4601816" cy="452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497"/>
              </a:lnSpc>
              <a:spcBef>
                <a:spcPct val="0"/>
              </a:spcBef>
            </a:pPr>
            <a:r>
              <a:rPr lang="ar-EG" sz="3212" spc="1211">
                <a:solidFill>
                  <a:srgbClr val="25354D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 </a:t>
            </a:r>
            <a:r>
              <a:rPr lang="ar-EG" sz="3212" spc="1211">
                <a:solidFill>
                  <a:srgbClr val="25354D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"نحيطكم علماً برصد تجاوزات في ساعات العمل الإضافية للسائقين نتيجة تأخر التوصيل، مما يرفع مخاطر عدم الامتثال لسياسات الراحة المعتمدة، ويعرض المنظومة لمخالفات إدارية ومخاطر متعلقة بالسلامة المهنية."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C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2248" y="64700"/>
            <a:ext cx="2701185" cy="1277027"/>
            <a:chOff x="0" y="0"/>
            <a:chExt cx="630946" cy="2982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0946" cy="298289"/>
            </a:xfrm>
            <a:custGeom>
              <a:avLst/>
              <a:gdLst/>
              <a:ahLst/>
              <a:cxnLst/>
              <a:rect r="r" b="b" t="t" l="l"/>
              <a:pathLst>
                <a:path h="298289" w="630946">
                  <a:moveTo>
                    <a:pt x="114645" y="0"/>
                  </a:moveTo>
                  <a:lnTo>
                    <a:pt x="516301" y="0"/>
                  </a:lnTo>
                  <a:cubicBezTo>
                    <a:pt x="579618" y="0"/>
                    <a:pt x="630946" y="51328"/>
                    <a:pt x="630946" y="114645"/>
                  </a:cubicBezTo>
                  <a:lnTo>
                    <a:pt x="630946" y="183645"/>
                  </a:lnTo>
                  <a:cubicBezTo>
                    <a:pt x="630946" y="214050"/>
                    <a:pt x="618867" y="243211"/>
                    <a:pt x="597367" y="264711"/>
                  </a:cubicBezTo>
                  <a:cubicBezTo>
                    <a:pt x="575867" y="286211"/>
                    <a:pt x="546707" y="298289"/>
                    <a:pt x="516301" y="298289"/>
                  </a:cubicBezTo>
                  <a:lnTo>
                    <a:pt x="114645" y="298289"/>
                  </a:lnTo>
                  <a:cubicBezTo>
                    <a:pt x="51328" y="298289"/>
                    <a:pt x="0" y="246961"/>
                    <a:pt x="0" y="183645"/>
                  </a:cubicBezTo>
                  <a:lnTo>
                    <a:pt x="0" y="114645"/>
                  </a:lnTo>
                  <a:cubicBezTo>
                    <a:pt x="0" y="84239"/>
                    <a:pt x="12079" y="55079"/>
                    <a:pt x="33579" y="33579"/>
                  </a:cubicBezTo>
                  <a:cubicBezTo>
                    <a:pt x="55079" y="12079"/>
                    <a:pt x="84239" y="0"/>
                    <a:pt x="114645" y="0"/>
                  </a:cubicBezTo>
                  <a:close/>
                </a:path>
              </a:pathLst>
            </a:custGeom>
            <a:solidFill>
              <a:srgbClr val="25354D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30946" cy="345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374577" y="1524000"/>
          <a:ext cx="5029200" cy="9689878"/>
        </p:xfrm>
        <a:graphic>
          <a:graphicData uri="http://schemas.openxmlformats.org/presentationml/2006/ole">
            <p:oleObj imgW="6959600" imgH="11620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02248" y="272744"/>
            <a:ext cx="2516632" cy="1511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8"/>
              </a:lnSpc>
            </a:pPr>
            <a:r>
              <a:rPr lang="en-US" b="true" sz="3306">
                <a:solidFill>
                  <a:srgbClr val="FFFFFF"/>
                </a:solidFill>
                <a:latin typeface="Siwa Bold"/>
                <a:ea typeface="Siwa Bold"/>
                <a:cs typeface="Siwa Bold"/>
                <a:sym typeface="Siwa Bold"/>
              </a:rPr>
              <a:t>S</a:t>
            </a:r>
            <a:r>
              <a:rPr lang="en-US" b="true" sz="3306">
                <a:solidFill>
                  <a:srgbClr val="FFFFFF"/>
                </a:solidFill>
                <a:latin typeface="Siwa Bold"/>
                <a:ea typeface="Siwa Bold"/>
                <a:cs typeface="Siwa Bold"/>
                <a:sym typeface="Siwa Bold"/>
              </a:rPr>
              <a:t>TAKEHOLDER ANALYSIS</a:t>
            </a:r>
          </a:p>
          <a:p>
            <a:pPr algn="ctr" marL="0" indent="0" lvl="0">
              <a:lnSpc>
                <a:spcPts val="3968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103432" y="384836"/>
            <a:ext cx="2082233" cy="31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0"/>
              </a:lnSpc>
              <a:spcBef>
                <a:spcPct val="0"/>
              </a:spcBef>
            </a:pPr>
            <a:r>
              <a:rPr lang="en-US" b="true" sz="2125">
                <a:solidFill>
                  <a:srgbClr val="262628"/>
                </a:solidFill>
                <a:latin typeface="Siwa Bold"/>
                <a:ea typeface="Siwa Bold"/>
                <a:cs typeface="Siwa Bold"/>
                <a:sym typeface="Siwa Bold"/>
              </a:rPr>
              <a:t>IDENTIFICATION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C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4577" y="139949"/>
            <a:ext cx="2701185" cy="1277027"/>
            <a:chOff x="0" y="0"/>
            <a:chExt cx="630946" cy="2982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0946" cy="298289"/>
            </a:xfrm>
            <a:custGeom>
              <a:avLst/>
              <a:gdLst/>
              <a:ahLst/>
              <a:cxnLst/>
              <a:rect r="r" b="b" t="t" l="l"/>
              <a:pathLst>
                <a:path h="298289" w="630946">
                  <a:moveTo>
                    <a:pt x="114645" y="0"/>
                  </a:moveTo>
                  <a:lnTo>
                    <a:pt x="516301" y="0"/>
                  </a:lnTo>
                  <a:cubicBezTo>
                    <a:pt x="579618" y="0"/>
                    <a:pt x="630946" y="51328"/>
                    <a:pt x="630946" y="114645"/>
                  </a:cubicBezTo>
                  <a:lnTo>
                    <a:pt x="630946" y="183645"/>
                  </a:lnTo>
                  <a:cubicBezTo>
                    <a:pt x="630946" y="214050"/>
                    <a:pt x="618867" y="243211"/>
                    <a:pt x="597367" y="264711"/>
                  </a:cubicBezTo>
                  <a:cubicBezTo>
                    <a:pt x="575867" y="286211"/>
                    <a:pt x="546707" y="298289"/>
                    <a:pt x="516301" y="298289"/>
                  </a:cubicBezTo>
                  <a:lnTo>
                    <a:pt x="114645" y="298289"/>
                  </a:lnTo>
                  <a:cubicBezTo>
                    <a:pt x="51328" y="298289"/>
                    <a:pt x="0" y="246961"/>
                    <a:pt x="0" y="183645"/>
                  </a:cubicBezTo>
                  <a:lnTo>
                    <a:pt x="0" y="114645"/>
                  </a:lnTo>
                  <a:cubicBezTo>
                    <a:pt x="0" y="84239"/>
                    <a:pt x="12079" y="55079"/>
                    <a:pt x="33579" y="33579"/>
                  </a:cubicBezTo>
                  <a:cubicBezTo>
                    <a:pt x="55079" y="12079"/>
                    <a:pt x="84239" y="0"/>
                    <a:pt x="114645" y="0"/>
                  </a:cubicBezTo>
                  <a:close/>
                </a:path>
              </a:pathLst>
            </a:custGeom>
            <a:solidFill>
              <a:srgbClr val="25354D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30946" cy="345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374577" y="1558975"/>
          <a:ext cx="6286500" cy="9689878"/>
        </p:xfrm>
        <a:graphic>
          <a:graphicData uri="http://schemas.openxmlformats.org/presentationml/2006/ole">
            <p:oleObj imgW="8216900" imgH="11620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374577" y="272744"/>
            <a:ext cx="2332080" cy="1511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8"/>
              </a:lnSpc>
            </a:pPr>
            <a:r>
              <a:rPr lang="en-US" b="true" sz="3306">
                <a:solidFill>
                  <a:srgbClr val="FFFFFF"/>
                </a:solidFill>
                <a:latin typeface="Siwa Bold"/>
                <a:ea typeface="Siwa Bold"/>
                <a:cs typeface="Siwa Bold"/>
                <a:sym typeface="Siwa Bold"/>
              </a:rPr>
              <a:t>S</a:t>
            </a:r>
            <a:r>
              <a:rPr lang="en-US" b="true" sz="3306">
                <a:solidFill>
                  <a:srgbClr val="FFFFFF"/>
                </a:solidFill>
                <a:latin typeface="Siwa Bold"/>
                <a:ea typeface="Siwa Bold"/>
                <a:cs typeface="Siwa Bold"/>
                <a:sym typeface="Siwa Bold"/>
              </a:rPr>
              <a:t>TAKEHOLDER ANALYSIS</a:t>
            </a:r>
          </a:p>
          <a:p>
            <a:pPr algn="ctr" marL="0" indent="0" lvl="0">
              <a:lnSpc>
                <a:spcPts val="3968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518535" y="272744"/>
            <a:ext cx="4377315" cy="63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b="true" sz="2125">
                <a:solidFill>
                  <a:srgbClr val="262628"/>
                </a:solidFill>
                <a:latin typeface="Siwa Bold"/>
                <a:ea typeface="Siwa Bold"/>
                <a:cs typeface="Siwa Bold"/>
                <a:sym typeface="Siwa Bold"/>
              </a:rPr>
              <a:t>POWER / INTEREST / IMPACT</a:t>
            </a:r>
          </a:p>
          <a:p>
            <a:pPr algn="ctr" marL="0" indent="0" lvl="0">
              <a:lnSpc>
                <a:spcPts val="25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C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9825" y="70051"/>
            <a:ext cx="2701185" cy="1277027"/>
            <a:chOff x="0" y="0"/>
            <a:chExt cx="630946" cy="2982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0946" cy="298289"/>
            </a:xfrm>
            <a:custGeom>
              <a:avLst/>
              <a:gdLst/>
              <a:ahLst/>
              <a:cxnLst/>
              <a:rect r="r" b="b" t="t" l="l"/>
              <a:pathLst>
                <a:path h="298289" w="630946">
                  <a:moveTo>
                    <a:pt x="114645" y="0"/>
                  </a:moveTo>
                  <a:lnTo>
                    <a:pt x="516301" y="0"/>
                  </a:lnTo>
                  <a:cubicBezTo>
                    <a:pt x="579618" y="0"/>
                    <a:pt x="630946" y="51328"/>
                    <a:pt x="630946" y="114645"/>
                  </a:cubicBezTo>
                  <a:lnTo>
                    <a:pt x="630946" y="183645"/>
                  </a:lnTo>
                  <a:cubicBezTo>
                    <a:pt x="630946" y="214050"/>
                    <a:pt x="618867" y="243211"/>
                    <a:pt x="597367" y="264711"/>
                  </a:cubicBezTo>
                  <a:cubicBezTo>
                    <a:pt x="575867" y="286211"/>
                    <a:pt x="546707" y="298289"/>
                    <a:pt x="516301" y="298289"/>
                  </a:cubicBezTo>
                  <a:lnTo>
                    <a:pt x="114645" y="298289"/>
                  </a:lnTo>
                  <a:cubicBezTo>
                    <a:pt x="51328" y="298289"/>
                    <a:pt x="0" y="246961"/>
                    <a:pt x="0" y="183645"/>
                  </a:cubicBezTo>
                  <a:lnTo>
                    <a:pt x="0" y="114645"/>
                  </a:lnTo>
                  <a:cubicBezTo>
                    <a:pt x="0" y="84239"/>
                    <a:pt x="12079" y="55079"/>
                    <a:pt x="33579" y="33579"/>
                  </a:cubicBezTo>
                  <a:cubicBezTo>
                    <a:pt x="55079" y="12079"/>
                    <a:pt x="84239" y="0"/>
                    <a:pt x="114645" y="0"/>
                  </a:cubicBezTo>
                  <a:close/>
                </a:path>
              </a:pathLst>
            </a:custGeom>
            <a:solidFill>
              <a:srgbClr val="25354D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30946" cy="345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190024" y="1347078"/>
          <a:ext cx="3771900" cy="9689878"/>
        </p:xfrm>
        <a:graphic>
          <a:graphicData uri="http://schemas.openxmlformats.org/presentationml/2006/ole">
            <p:oleObj imgW="5702300" imgH="11620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502692" y="272744"/>
            <a:ext cx="2595450" cy="1511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8"/>
              </a:lnSpc>
            </a:pPr>
            <a:r>
              <a:rPr lang="en-US" b="true" sz="3306">
                <a:solidFill>
                  <a:srgbClr val="FFFFFF"/>
                </a:solidFill>
                <a:latin typeface="Siwa Bold"/>
                <a:ea typeface="Siwa Bold"/>
                <a:cs typeface="Siwa Bold"/>
                <a:sym typeface="Siwa Bold"/>
              </a:rPr>
              <a:t>S</a:t>
            </a:r>
            <a:r>
              <a:rPr lang="en-US" b="true" sz="3306">
                <a:solidFill>
                  <a:srgbClr val="FFFFFF"/>
                </a:solidFill>
                <a:latin typeface="Siwa Bold"/>
                <a:ea typeface="Siwa Bold"/>
                <a:cs typeface="Siwa Bold"/>
                <a:sym typeface="Siwa Bold"/>
              </a:rPr>
              <a:t>TAKEHOLDER ANALYSIS</a:t>
            </a:r>
          </a:p>
          <a:p>
            <a:pPr algn="ctr" marL="0" indent="0" lvl="0">
              <a:lnSpc>
                <a:spcPts val="3968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891209" y="391945"/>
            <a:ext cx="1781238" cy="63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b="true" sz="2125">
                <a:solidFill>
                  <a:srgbClr val="262628"/>
                </a:solidFill>
                <a:latin typeface="Siwa Bold"/>
                <a:ea typeface="Siwa Bold"/>
                <a:cs typeface="Siwa Bold"/>
                <a:sym typeface="Siwa Bold"/>
              </a:rPr>
              <a:t>VS CTQ</a:t>
            </a:r>
          </a:p>
          <a:p>
            <a:pPr algn="ctr" marL="0" indent="0" lvl="0">
              <a:lnSpc>
                <a:spcPts val="25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C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4577" y="71809"/>
            <a:ext cx="2701185" cy="1277027"/>
            <a:chOff x="0" y="0"/>
            <a:chExt cx="630946" cy="2982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0946" cy="298289"/>
            </a:xfrm>
            <a:custGeom>
              <a:avLst/>
              <a:gdLst/>
              <a:ahLst/>
              <a:cxnLst/>
              <a:rect r="r" b="b" t="t" l="l"/>
              <a:pathLst>
                <a:path h="298289" w="630946">
                  <a:moveTo>
                    <a:pt x="114645" y="0"/>
                  </a:moveTo>
                  <a:lnTo>
                    <a:pt x="516301" y="0"/>
                  </a:lnTo>
                  <a:cubicBezTo>
                    <a:pt x="579618" y="0"/>
                    <a:pt x="630946" y="51328"/>
                    <a:pt x="630946" y="114645"/>
                  </a:cubicBezTo>
                  <a:lnTo>
                    <a:pt x="630946" y="183645"/>
                  </a:lnTo>
                  <a:cubicBezTo>
                    <a:pt x="630946" y="214050"/>
                    <a:pt x="618867" y="243211"/>
                    <a:pt x="597367" y="264711"/>
                  </a:cubicBezTo>
                  <a:cubicBezTo>
                    <a:pt x="575867" y="286211"/>
                    <a:pt x="546707" y="298289"/>
                    <a:pt x="516301" y="298289"/>
                  </a:cubicBezTo>
                  <a:lnTo>
                    <a:pt x="114645" y="298289"/>
                  </a:lnTo>
                  <a:cubicBezTo>
                    <a:pt x="51328" y="298289"/>
                    <a:pt x="0" y="246961"/>
                    <a:pt x="0" y="183645"/>
                  </a:cubicBezTo>
                  <a:lnTo>
                    <a:pt x="0" y="114645"/>
                  </a:lnTo>
                  <a:cubicBezTo>
                    <a:pt x="0" y="84239"/>
                    <a:pt x="12079" y="55079"/>
                    <a:pt x="33579" y="33579"/>
                  </a:cubicBezTo>
                  <a:cubicBezTo>
                    <a:pt x="55079" y="12079"/>
                    <a:pt x="84239" y="0"/>
                    <a:pt x="114645" y="0"/>
                  </a:cubicBezTo>
                  <a:close/>
                </a:path>
              </a:pathLst>
            </a:custGeom>
            <a:solidFill>
              <a:srgbClr val="25354D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30946" cy="345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374577" y="1483727"/>
          <a:ext cx="6286500" cy="9689878"/>
        </p:xfrm>
        <a:graphic>
          <a:graphicData uri="http://schemas.openxmlformats.org/presentationml/2006/ole">
            <p:oleObj imgW="8216900" imgH="11620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559129" y="272744"/>
            <a:ext cx="2332080" cy="1511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8"/>
              </a:lnSpc>
            </a:pPr>
            <a:r>
              <a:rPr lang="en-US" b="true" sz="3306">
                <a:solidFill>
                  <a:srgbClr val="FFFFFF"/>
                </a:solidFill>
                <a:latin typeface="Siwa Bold"/>
                <a:ea typeface="Siwa Bold"/>
                <a:cs typeface="Siwa Bold"/>
                <a:sym typeface="Siwa Bold"/>
              </a:rPr>
              <a:t>S</a:t>
            </a:r>
            <a:r>
              <a:rPr lang="en-US" b="true" sz="3306">
                <a:solidFill>
                  <a:srgbClr val="FFFFFF"/>
                </a:solidFill>
                <a:latin typeface="Siwa Bold"/>
                <a:ea typeface="Siwa Bold"/>
                <a:cs typeface="Siwa Bold"/>
                <a:sym typeface="Siwa Bold"/>
              </a:rPr>
              <a:t>TAKEHOLDER ANALYSIS</a:t>
            </a:r>
          </a:p>
          <a:p>
            <a:pPr algn="ctr" marL="0" indent="0" lvl="0">
              <a:lnSpc>
                <a:spcPts val="3968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192203" y="391945"/>
            <a:ext cx="3323835" cy="63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b="true" sz="2125">
                <a:solidFill>
                  <a:srgbClr val="262628"/>
                </a:solidFill>
                <a:latin typeface="Siwa Bold"/>
                <a:ea typeface="Siwa Bold"/>
                <a:cs typeface="Siwa Bold"/>
                <a:sym typeface="Siwa Bold"/>
              </a:rPr>
              <a:t>ENGAGEMENT STRATEGY</a:t>
            </a:r>
          </a:p>
          <a:p>
            <a:pPr algn="ctr" marL="0" indent="0" lvl="0">
              <a:lnSpc>
                <a:spcPts val="25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C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4577" y="225746"/>
            <a:ext cx="2701185" cy="1277027"/>
            <a:chOff x="0" y="0"/>
            <a:chExt cx="630946" cy="2982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0946" cy="298289"/>
            </a:xfrm>
            <a:custGeom>
              <a:avLst/>
              <a:gdLst/>
              <a:ahLst/>
              <a:cxnLst/>
              <a:rect r="r" b="b" t="t" l="l"/>
              <a:pathLst>
                <a:path h="298289" w="630946">
                  <a:moveTo>
                    <a:pt x="114645" y="0"/>
                  </a:moveTo>
                  <a:lnTo>
                    <a:pt x="516301" y="0"/>
                  </a:lnTo>
                  <a:cubicBezTo>
                    <a:pt x="579618" y="0"/>
                    <a:pt x="630946" y="51328"/>
                    <a:pt x="630946" y="114645"/>
                  </a:cubicBezTo>
                  <a:lnTo>
                    <a:pt x="630946" y="183645"/>
                  </a:lnTo>
                  <a:cubicBezTo>
                    <a:pt x="630946" y="214050"/>
                    <a:pt x="618867" y="243211"/>
                    <a:pt x="597367" y="264711"/>
                  </a:cubicBezTo>
                  <a:cubicBezTo>
                    <a:pt x="575867" y="286211"/>
                    <a:pt x="546707" y="298289"/>
                    <a:pt x="516301" y="298289"/>
                  </a:cubicBezTo>
                  <a:lnTo>
                    <a:pt x="114645" y="298289"/>
                  </a:lnTo>
                  <a:cubicBezTo>
                    <a:pt x="51328" y="298289"/>
                    <a:pt x="0" y="246961"/>
                    <a:pt x="0" y="183645"/>
                  </a:cubicBezTo>
                  <a:lnTo>
                    <a:pt x="0" y="114645"/>
                  </a:lnTo>
                  <a:cubicBezTo>
                    <a:pt x="0" y="84239"/>
                    <a:pt x="12079" y="55079"/>
                    <a:pt x="33579" y="33579"/>
                  </a:cubicBezTo>
                  <a:cubicBezTo>
                    <a:pt x="55079" y="12079"/>
                    <a:pt x="84239" y="0"/>
                    <a:pt x="114645" y="0"/>
                  </a:cubicBezTo>
                  <a:close/>
                </a:path>
              </a:pathLst>
            </a:custGeom>
            <a:solidFill>
              <a:srgbClr val="25354D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30946" cy="345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727706" y="1943716"/>
          <a:ext cx="5029200" cy="9639110"/>
        </p:xfrm>
        <a:graphic>
          <a:graphicData uri="http://schemas.openxmlformats.org/presentationml/2006/ole">
            <p:oleObj imgW="6946900" imgH="115570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74474" y="391945"/>
            <a:ext cx="2501389" cy="1511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8"/>
              </a:lnSpc>
            </a:pPr>
            <a:r>
              <a:rPr lang="en-US" b="true" sz="3306">
                <a:solidFill>
                  <a:srgbClr val="FFFFFF"/>
                </a:solidFill>
                <a:latin typeface="Siwa Bold"/>
                <a:ea typeface="Siwa Bold"/>
                <a:cs typeface="Siwa Bold"/>
                <a:sym typeface="Siwa Bold"/>
              </a:rPr>
              <a:t>S</a:t>
            </a:r>
            <a:r>
              <a:rPr lang="en-US" b="true" sz="3306">
                <a:solidFill>
                  <a:srgbClr val="FFFFFF"/>
                </a:solidFill>
                <a:latin typeface="Siwa Bold"/>
                <a:ea typeface="Siwa Bold"/>
                <a:cs typeface="Siwa Bold"/>
                <a:sym typeface="Siwa Bold"/>
              </a:rPr>
              <a:t>TAKEHOLDER ANALYSIS</a:t>
            </a:r>
          </a:p>
          <a:p>
            <a:pPr algn="ctr" marL="0" indent="0" lvl="0">
              <a:lnSpc>
                <a:spcPts val="3968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192203" y="545881"/>
            <a:ext cx="1856487" cy="63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b="true" sz="2125">
                <a:solidFill>
                  <a:srgbClr val="262628"/>
                </a:solidFill>
                <a:latin typeface="Siwa Bold"/>
                <a:ea typeface="Siwa Bold"/>
                <a:cs typeface="Siwa Bold"/>
                <a:sym typeface="Siwa Bold"/>
              </a:rPr>
              <a:t>INFLUENCE MAP </a:t>
            </a:r>
          </a:p>
          <a:p>
            <a:pPr algn="ctr" marL="0" indent="0" lvl="0">
              <a:lnSpc>
                <a:spcPts val="25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C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024" y="64700"/>
            <a:ext cx="2701185" cy="1277027"/>
            <a:chOff x="0" y="0"/>
            <a:chExt cx="630946" cy="2982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0946" cy="298289"/>
            </a:xfrm>
            <a:custGeom>
              <a:avLst/>
              <a:gdLst/>
              <a:ahLst/>
              <a:cxnLst/>
              <a:rect r="r" b="b" t="t" l="l"/>
              <a:pathLst>
                <a:path h="298289" w="630946">
                  <a:moveTo>
                    <a:pt x="114645" y="0"/>
                  </a:moveTo>
                  <a:lnTo>
                    <a:pt x="516301" y="0"/>
                  </a:lnTo>
                  <a:cubicBezTo>
                    <a:pt x="579618" y="0"/>
                    <a:pt x="630946" y="51328"/>
                    <a:pt x="630946" y="114645"/>
                  </a:cubicBezTo>
                  <a:lnTo>
                    <a:pt x="630946" y="183645"/>
                  </a:lnTo>
                  <a:cubicBezTo>
                    <a:pt x="630946" y="214050"/>
                    <a:pt x="618867" y="243211"/>
                    <a:pt x="597367" y="264711"/>
                  </a:cubicBezTo>
                  <a:cubicBezTo>
                    <a:pt x="575867" y="286211"/>
                    <a:pt x="546707" y="298289"/>
                    <a:pt x="516301" y="298289"/>
                  </a:cubicBezTo>
                  <a:lnTo>
                    <a:pt x="114645" y="298289"/>
                  </a:lnTo>
                  <a:cubicBezTo>
                    <a:pt x="51328" y="298289"/>
                    <a:pt x="0" y="246961"/>
                    <a:pt x="0" y="183645"/>
                  </a:cubicBezTo>
                  <a:lnTo>
                    <a:pt x="0" y="114645"/>
                  </a:lnTo>
                  <a:cubicBezTo>
                    <a:pt x="0" y="84239"/>
                    <a:pt x="12079" y="55079"/>
                    <a:pt x="33579" y="33579"/>
                  </a:cubicBezTo>
                  <a:cubicBezTo>
                    <a:pt x="55079" y="12079"/>
                    <a:pt x="84239" y="0"/>
                    <a:pt x="114645" y="0"/>
                  </a:cubicBezTo>
                  <a:close/>
                </a:path>
              </a:pathLst>
            </a:custGeom>
            <a:solidFill>
              <a:srgbClr val="25354D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30946" cy="345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374577" y="1784656"/>
          <a:ext cx="6286500" cy="9689878"/>
        </p:xfrm>
        <a:graphic>
          <a:graphicData uri="http://schemas.openxmlformats.org/presentationml/2006/ole">
            <p:oleObj imgW="8216900" imgH="11620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374577" y="272744"/>
            <a:ext cx="2332080" cy="1511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8"/>
              </a:lnSpc>
            </a:pPr>
            <a:r>
              <a:rPr lang="en-US" b="true" sz="3306">
                <a:solidFill>
                  <a:srgbClr val="FFFFFF"/>
                </a:solidFill>
                <a:latin typeface="Siwa Bold"/>
                <a:ea typeface="Siwa Bold"/>
                <a:cs typeface="Siwa Bold"/>
                <a:sym typeface="Siwa Bold"/>
              </a:rPr>
              <a:t>S</a:t>
            </a:r>
            <a:r>
              <a:rPr lang="en-US" b="true" sz="3306">
                <a:solidFill>
                  <a:srgbClr val="FFFFFF"/>
                </a:solidFill>
                <a:latin typeface="Siwa Bold"/>
                <a:ea typeface="Siwa Bold"/>
                <a:cs typeface="Siwa Bold"/>
                <a:sym typeface="Siwa Bold"/>
              </a:rPr>
              <a:t>TAKEHOLDER ANALYSIS</a:t>
            </a:r>
          </a:p>
          <a:p>
            <a:pPr algn="ctr" marL="0" indent="0" lvl="0">
              <a:lnSpc>
                <a:spcPts val="3968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192203" y="551133"/>
            <a:ext cx="1216873" cy="31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0"/>
              </a:lnSpc>
              <a:spcBef>
                <a:spcPct val="0"/>
              </a:spcBef>
            </a:pPr>
            <a:r>
              <a:rPr lang="en-US" b="true" sz="2125">
                <a:solidFill>
                  <a:srgbClr val="262628"/>
                </a:solidFill>
                <a:latin typeface="Siwa Bold"/>
                <a:ea typeface="Siwa Bold"/>
                <a:cs typeface="Siwa Bold"/>
                <a:sym typeface="Siwa Bold"/>
              </a:rPr>
              <a:t>RISK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C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9570" y="2542798"/>
            <a:ext cx="1084859" cy="5766318"/>
            <a:chOff x="0" y="0"/>
            <a:chExt cx="285010" cy="1514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010" cy="1514903"/>
            </a:xfrm>
            <a:custGeom>
              <a:avLst/>
              <a:gdLst/>
              <a:ahLst/>
              <a:cxnLst/>
              <a:rect r="r" b="b" t="t" l="l"/>
              <a:pathLst>
                <a:path h="1514903" w="285010">
                  <a:moveTo>
                    <a:pt x="142505" y="0"/>
                  </a:moveTo>
                  <a:lnTo>
                    <a:pt x="142505" y="0"/>
                  </a:lnTo>
                  <a:cubicBezTo>
                    <a:pt x="180299" y="0"/>
                    <a:pt x="216546" y="15014"/>
                    <a:pt x="243271" y="41739"/>
                  </a:cubicBezTo>
                  <a:cubicBezTo>
                    <a:pt x="269996" y="68464"/>
                    <a:pt x="285010" y="104710"/>
                    <a:pt x="285010" y="142505"/>
                  </a:cubicBezTo>
                  <a:lnTo>
                    <a:pt x="285010" y="1372398"/>
                  </a:lnTo>
                  <a:cubicBezTo>
                    <a:pt x="285010" y="1410193"/>
                    <a:pt x="269996" y="1446439"/>
                    <a:pt x="243271" y="1473164"/>
                  </a:cubicBezTo>
                  <a:cubicBezTo>
                    <a:pt x="216546" y="1499889"/>
                    <a:pt x="180299" y="1514903"/>
                    <a:pt x="142505" y="1514903"/>
                  </a:cubicBezTo>
                  <a:lnTo>
                    <a:pt x="142505" y="1514903"/>
                  </a:lnTo>
                  <a:cubicBezTo>
                    <a:pt x="63802" y="1514903"/>
                    <a:pt x="0" y="1451101"/>
                    <a:pt x="0" y="1372398"/>
                  </a:cubicBezTo>
                  <a:lnTo>
                    <a:pt x="0" y="142505"/>
                  </a:lnTo>
                  <a:cubicBezTo>
                    <a:pt x="0" y="63802"/>
                    <a:pt x="63802" y="0"/>
                    <a:pt x="142505" y="0"/>
                  </a:cubicBezTo>
                  <a:close/>
                </a:path>
              </a:pathLst>
            </a:custGeom>
            <a:solidFill>
              <a:srgbClr val="77818D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85010" cy="1562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1408" y="145143"/>
            <a:ext cx="2701185" cy="1277027"/>
            <a:chOff x="0" y="0"/>
            <a:chExt cx="630946" cy="2982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0946" cy="298289"/>
            </a:xfrm>
            <a:custGeom>
              <a:avLst/>
              <a:gdLst/>
              <a:ahLst/>
              <a:cxnLst/>
              <a:rect r="r" b="b" t="t" l="l"/>
              <a:pathLst>
                <a:path h="298289" w="630946">
                  <a:moveTo>
                    <a:pt x="114645" y="0"/>
                  </a:moveTo>
                  <a:lnTo>
                    <a:pt x="516301" y="0"/>
                  </a:lnTo>
                  <a:cubicBezTo>
                    <a:pt x="579618" y="0"/>
                    <a:pt x="630946" y="51328"/>
                    <a:pt x="630946" y="114645"/>
                  </a:cubicBezTo>
                  <a:lnTo>
                    <a:pt x="630946" y="183645"/>
                  </a:lnTo>
                  <a:cubicBezTo>
                    <a:pt x="630946" y="214050"/>
                    <a:pt x="618867" y="243211"/>
                    <a:pt x="597367" y="264711"/>
                  </a:cubicBezTo>
                  <a:cubicBezTo>
                    <a:pt x="575867" y="286211"/>
                    <a:pt x="546707" y="298289"/>
                    <a:pt x="516301" y="298289"/>
                  </a:cubicBezTo>
                  <a:lnTo>
                    <a:pt x="114645" y="298289"/>
                  </a:lnTo>
                  <a:cubicBezTo>
                    <a:pt x="51328" y="298289"/>
                    <a:pt x="0" y="246961"/>
                    <a:pt x="0" y="183645"/>
                  </a:cubicBezTo>
                  <a:lnTo>
                    <a:pt x="0" y="114645"/>
                  </a:lnTo>
                  <a:cubicBezTo>
                    <a:pt x="0" y="84239"/>
                    <a:pt x="12079" y="55079"/>
                    <a:pt x="33579" y="33579"/>
                  </a:cubicBezTo>
                  <a:cubicBezTo>
                    <a:pt x="55079" y="12079"/>
                    <a:pt x="84239" y="0"/>
                    <a:pt x="114645" y="0"/>
                  </a:cubicBezTo>
                  <a:close/>
                </a:path>
              </a:pathLst>
            </a:custGeom>
            <a:solidFill>
              <a:srgbClr val="25354D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30946" cy="345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8" id="8"/>
          <p:cNvGraphicFramePr/>
          <p:nvPr/>
        </p:nvGraphicFramePr>
        <p:xfrm>
          <a:off x="2525773" y="2206542"/>
          <a:ext cx="3771900" cy="8724805"/>
        </p:xfrm>
        <a:graphic>
          <a:graphicData uri="http://schemas.openxmlformats.org/presentationml/2006/ole">
            <p:oleObj imgW="5511800" imgH="10464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441408" y="288357"/>
            <a:ext cx="2701185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8"/>
              </a:lnSpc>
              <a:spcBef>
                <a:spcPct val="0"/>
              </a:spcBef>
            </a:pPr>
            <a:r>
              <a:rPr lang="en-US" b="true" sz="3306">
                <a:solidFill>
                  <a:srgbClr val="FFFFFF"/>
                </a:solidFill>
                <a:latin typeface="Siwa Bold"/>
                <a:ea typeface="Siwa Bold"/>
                <a:cs typeface="Siwa Bold"/>
                <a:sym typeface="Siwa Bold"/>
              </a:rPr>
              <a:t>STAKEHOLDER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-1005392" y="4812162"/>
            <a:ext cx="5609185" cy="107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4"/>
              </a:lnSpc>
              <a:spcBef>
                <a:spcPct val="0"/>
              </a:spcBef>
            </a:pPr>
            <a:r>
              <a:rPr lang="en-US" b="true" sz="2403">
                <a:solidFill>
                  <a:srgbClr val="FFFFFF"/>
                </a:solidFill>
                <a:latin typeface="Siwa Bold"/>
                <a:ea typeface="Siwa Bold"/>
                <a:cs typeface="Siwa Bold"/>
                <a:sym typeface="Siwa Bold"/>
              </a:rPr>
              <a:t>THE IDEAL ANALYSIS ANSWERS THESE QUESTIONS </a:t>
            </a:r>
          </a:p>
          <a:p>
            <a:pPr algn="ctr">
              <a:lnSpc>
                <a:spcPts val="288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C9CD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8620382" y="-2134065"/>
            <a:ext cx="1047235" cy="5766318"/>
            <a:chOff x="0" y="0"/>
            <a:chExt cx="275125" cy="1514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5125" cy="1514903"/>
            </a:xfrm>
            <a:custGeom>
              <a:avLst/>
              <a:gdLst/>
              <a:ahLst/>
              <a:cxnLst/>
              <a:rect r="r" b="b" t="t" l="l"/>
              <a:pathLst>
                <a:path h="1514903" w="275125">
                  <a:moveTo>
                    <a:pt x="137563" y="0"/>
                  </a:moveTo>
                  <a:lnTo>
                    <a:pt x="137563" y="0"/>
                  </a:lnTo>
                  <a:cubicBezTo>
                    <a:pt x="174046" y="0"/>
                    <a:pt x="209036" y="14493"/>
                    <a:pt x="234834" y="40291"/>
                  </a:cubicBezTo>
                  <a:cubicBezTo>
                    <a:pt x="260632" y="66089"/>
                    <a:pt x="275125" y="101079"/>
                    <a:pt x="275125" y="137563"/>
                  </a:cubicBezTo>
                  <a:lnTo>
                    <a:pt x="275125" y="1377340"/>
                  </a:lnTo>
                  <a:cubicBezTo>
                    <a:pt x="275125" y="1453314"/>
                    <a:pt x="213536" y="1514903"/>
                    <a:pt x="137563" y="1514903"/>
                  </a:cubicBezTo>
                  <a:lnTo>
                    <a:pt x="137563" y="1514903"/>
                  </a:lnTo>
                  <a:cubicBezTo>
                    <a:pt x="61589" y="1514903"/>
                    <a:pt x="0" y="1453314"/>
                    <a:pt x="0" y="1377340"/>
                  </a:cubicBezTo>
                  <a:lnTo>
                    <a:pt x="0" y="137563"/>
                  </a:lnTo>
                  <a:cubicBezTo>
                    <a:pt x="0" y="61589"/>
                    <a:pt x="61589" y="0"/>
                    <a:pt x="137563" y="0"/>
                  </a:cubicBezTo>
                  <a:close/>
                </a:path>
              </a:pathLst>
            </a:custGeom>
            <a:solidFill>
              <a:srgbClr val="77818D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75125" cy="1562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4335" y="2978793"/>
            <a:ext cx="16539361" cy="5284176"/>
            <a:chOff x="0" y="0"/>
            <a:chExt cx="3863285" cy="1234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63285" cy="1234285"/>
            </a:xfrm>
            <a:custGeom>
              <a:avLst/>
              <a:gdLst/>
              <a:ahLst/>
              <a:cxnLst/>
              <a:rect r="r" b="b" t="t" l="l"/>
              <a:pathLst>
                <a:path h="1234285" w="3863285">
                  <a:moveTo>
                    <a:pt x="25745" y="0"/>
                  </a:moveTo>
                  <a:lnTo>
                    <a:pt x="3837540" y="0"/>
                  </a:lnTo>
                  <a:cubicBezTo>
                    <a:pt x="3851758" y="0"/>
                    <a:pt x="3863285" y="11526"/>
                    <a:pt x="3863285" y="25745"/>
                  </a:cubicBezTo>
                  <a:lnTo>
                    <a:pt x="3863285" y="1208540"/>
                  </a:lnTo>
                  <a:cubicBezTo>
                    <a:pt x="3863285" y="1215368"/>
                    <a:pt x="3860572" y="1221916"/>
                    <a:pt x="3855744" y="1226744"/>
                  </a:cubicBezTo>
                  <a:cubicBezTo>
                    <a:pt x="3850916" y="1231572"/>
                    <a:pt x="3844368" y="1234285"/>
                    <a:pt x="3837540" y="1234285"/>
                  </a:cubicBezTo>
                  <a:lnTo>
                    <a:pt x="25745" y="1234285"/>
                  </a:lnTo>
                  <a:cubicBezTo>
                    <a:pt x="18917" y="1234285"/>
                    <a:pt x="12369" y="1231572"/>
                    <a:pt x="7541" y="1226744"/>
                  </a:cubicBezTo>
                  <a:cubicBezTo>
                    <a:pt x="2712" y="1221916"/>
                    <a:pt x="0" y="1215368"/>
                    <a:pt x="0" y="1208540"/>
                  </a:cubicBezTo>
                  <a:lnTo>
                    <a:pt x="0" y="25745"/>
                  </a:lnTo>
                  <a:cubicBezTo>
                    <a:pt x="0" y="18917"/>
                    <a:pt x="2712" y="12369"/>
                    <a:pt x="7541" y="7541"/>
                  </a:cubicBezTo>
                  <a:cubicBezTo>
                    <a:pt x="12369" y="2712"/>
                    <a:pt x="18917" y="0"/>
                    <a:pt x="25745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63285" cy="1281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37827" y="3636431"/>
            <a:ext cx="4353665" cy="691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815"/>
              </a:lnSpc>
            </a:pPr>
            <a:r>
              <a:rPr lang="ar-EG" sz="2010" spc="758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 تجاهل الأرقام والبيانات</a:t>
            </a:r>
          </a:p>
          <a:p>
            <a:pPr algn="ctr" rtl="true">
              <a:lnSpc>
                <a:spcPts val="2815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679033" y="6163110"/>
            <a:ext cx="4094906" cy="339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5"/>
              </a:lnSpc>
              <a:spcBef>
                <a:spcPct val="0"/>
              </a:spcBef>
            </a:pPr>
            <a:r>
              <a:rPr lang="en-US" sz="2010" spc="758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5) </a:t>
            </a:r>
            <a:r>
              <a:rPr lang="ar-EG" sz="2010" spc="758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حلول بدون مقارنة “قبل وبعد</a:t>
            </a:r>
            <a:r>
              <a:rPr lang="en-US" sz="2010" spc="758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8612" y="6264645"/>
            <a:ext cx="4232095" cy="339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5"/>
              </a:lnSpc>
              <a:spcBef>
                <a:spcPct val="0"/>
              </a:spcBef>
            </a:pPr>
            <a:r>
              <a:rPr lang="en-US" sz="2010" spc="758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6) </a:t>
            </a:r>
            <a:r>
              <a:rPr lang="ar-EG" sz="2010" spc="758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تجاهل العامل البشري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439738" y="3574384"/>
            <a:ext cx="740746" cy="748019"/>
            <a:chOff x="0" y="0"/>
            <a:chExt cx="812800" cy="8207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20780"/>
            </a:xfrm>
            <a:custGeom>
              <a:avLst/>
              <a:gdLst/>
              <a:ahLst/>
              <a:cxnLst/>
              <a:rect r="r" b="b" t="t" l="l"/>
              <a:pathLst>
                <a:path h="820780" w="812800">
                  <a:moveTo>
                    <a:pt x="0" y="41039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812800" y="203200"/>
                  </a:lnTo>
                  <a:lnTo>
                    <a:pt x="812800" y="617580"/>
                  </a:lnTo>
                  <a:lnTo>
                    <a:pt x="406400" y="617580"/>
                  </a:lnTo>
                  <a:lnTo>
                    <a:pt x="406400" y="820780"/>
                  </a:lnTo>
                  <a:lnTo>
                    <a:pt x="0" y="410390"/>
                  </a:lnTo>
                  <a:close/>
                </a:path>
              </a:pathLst>
            </a:custGeom>
            <a:solidFill>
              <a:srgbClr val="77818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155575"/>
              <a:ext cx="711200" cy="462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35"/>
                </a:lnSpc>
              </a:pPr>
              <a:r>
                <a:rPr lang="en-US" sz="1810" spc="682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403565" y="3485793"/>
            <a:ext cx="740746" cy="748019"/>
            <a:chOff x="0" y="0"/>
            <a:chExt cx="812800" cy="8207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20780"/>
            </a:xfrm>
            <a:custGeom>
              <a:avLst/>
              <a:gdLst/>
              <a:ahLst/>
              <a:cxnLst/>
              <a:rect r="r" b="b" t="t" l="l"/>
              <a:pathLst>
                <a:path h="820780" w="812800">
                  <a:moveTo>
                    <a:pt x="0" y="41039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812800" y="203200"/>
                  </a:lnTo>
                  <a:lnTo>
                    <a:pt x="812800" y="617580"/>
                  </a:lnTo>
                  <a:lnTo>
                    <a:pt x="406400" y="617580"/>
                  </a:lnTo>
                  <a:lnTo>
                    <a:pt x="406400" y="820780"/>
                  </a:lnTo>
                  <a:lnTo>
                    <a:pt x="0" y="410390"/>
                  </a:lnTo>
                  <a:close/>
                </a:path>
              </a:pathLst>
            </a:custGeom>
            <a:solidFill>
              <a:srgbClr val="77818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155575"/>
              <a:ext cx="711200" cy="462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35"/>
                </a:lnSpc>
              </a:pPr>
              <a:r>
                <a:rPr lang="en-US" sz="1810" spc="682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521119" y="3529007"/>
            <a:ext cx="740746" cy="748019"/>
            <a:chOff x="0" y="0"/>
            <a:chExt cx="812800" cy="8207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20780"/>
            </a:xfrm>
            <a:custGeom>
              <a:avLst/>
              <a:gdLst/>
              <a:ahLst/>
              <a:cxnLst/>
              <a:rect r="r" b="b" t="t" l="l"/>
              <a:pathLst>
                <a:path h="820780" w="812800">
                  <a:moveTo>
                    <a:pt x="0" y="41039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812800" y="203200"/>
                  </a:lnTo>
                  <a:lnTo>
                    <a:pt x="812800" y="617580"/>
                  </a:lnTo>
                  <a:lnTo>
                    <a:pt x="406400" y="617580"/>
                  </a:lnTo>
                  <a:lnTo>
                    <a:pt x="406400" y="820780"/>
                  </a:lnTo>
                  <a:lnTo>
                    <a:pt x="0" y="410390"/>
                  </a:lnTo>
                  <a:close/>
                </a:path>
              </a:pathLst>
            </a:custGeom>
            <a:solidFill>
              <a:srgbClr val="77818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155575"/>
              <a:ext cx="711200" cy="462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35"/>
                </a:lnSpc>
              </a:pPr>
              <a:r>
                <a:rPr lang="en-US" sz="1810" spc="682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496618" y="5705400"/>
            <a:ext cx="740746" cy="748019"/>
            <a:chOff x="0" y="0"/>
            <a:chExt cx="812800" cy="8207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20780"/>
            </a:xfrm>
            <a:custGeom>
              <a:avLst/>
              <a:gdLst/>
              <a:ahLst/>
              <a:cxnLst/>
              <a:rect r="r" b="b" t="t" l="l"/>
              <a:pathLst>
                <a:path h="820780" w="812800">
                  <a:moveTo>
                    <a:pt x="0" y="41039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812800" y="203200"/>
                  </a:lnTo>
                  <a:lnTo>
                    <a:pt x="812800" y="617580"/>
                  </a:lnTo>
                  <a:lnTo>
                    <a:pt x="406400" y="617580"/>
                  </a:lnTo>
                  <a:lnTo>
                    <a:pt x="406400" y="820780"/>
                  </a:lnTo>
                  <a:lnTo>
                    <a:pt x="0" y="410390"/>
                  </a:lnTo>
                  <a:close/>
                </a:path>
              </a:pathLst>
            </a:custGeom>
            <a:solidFill>
              <a:srgbClr val="77818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01600" y="155575"/>
              <a:ext cx="711200" cy="462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35"/>
                </a:lnSpc>
              </a:pPr>
              <a:r>
                <a:rPr lang="en-US" sz="1810" spc="682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4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521119" y="5950424"/>
            <a:ext cx="740746" cy="748019"/>
            <a:chOff x="0" y="0"/>
            <a:chExt cx="812800" cy="8207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20780"/>
            </a:xfrm>
            <a:custGeom>
              <a:avLst/>
              <a:gdLst/>
              <a:ahLst/>
              <a:cxnLst/>
              <a:rect r="r" b="b" t="t" l="l"/>
              <a:pathLst>
                <a:path h="820780" w="812800">
                  <a:moveTo>
                    <a:pt x="0" y="41039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812800" y="203200"/>
                  </a:lnTo>
                  <a:lnTo>
                    <a:pt x="812800" y="617580"/>
                  </a:lnTo>
                  <a:lnTo>
                    <a:pt x="406400" y="617580"/>
                  </a:lnTo>
                  <a:lnTo>
                    <a:pt x="406400" y="820780"/>
                  </a:lnTo>
                  <a:lnTo>
                    <a:pt x="0" y="410390"/>
                  </a:lnTo>
                  <a:close/>
                </a:path>
              </a:pathLst>
            </a:custGeom>
            <a:solidFill>
              <a:srgbClr val="77818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01600" y="155575"/>
              <a:ext cx="711200" cy="462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35"/>
                </a:lnSpc>
              </a:pPr>
              <a:r>
                <a:rPr lang="en-US" sz="1810" spc="682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6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539951" y="5832314"/>
            <a:ext cx="740746" cy="748019"/>
            <a:chOff x="0" y="0"/>
            <a:chExt cx="812800" cy="8207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20780"/>
            </a:xfrm>
            <a:custGeom>
              <a:avLst/>
              <a:gdLst/>
              <a:ahLst/>
              <a:cxnLst/>
              <a:rect r="r" b="b" t="t" l="l"/>
              <a:pathLst>
                <a:path h="820780" w="812800">
                  <a:moveTo>
                    <a:pt x="0" y="41039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812800" y="203200"/>
                  </a:lnTo>
                  <a:lnTo>
                    <a:pt x="812800" y="617580"/>
                  </a:lnTo>
                  <a:lnTo>
                    <a:pt x="406400" y="617580"/>
                  </a:lnTo>
                  <a:lnTo>
                    <a:pt x="406400" y="820780"/>
                  </a:lnTo>
                  <a:lnTo>
                    <a:pt x="0" y="410390"/>
                  </a:lnTo>
                  <a:close/>
                </a:path>
              </a:pathLst>
            </a:custGeom>
            <a:solidFill>
              <a:srgbClr val="77818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01600" y="155575"/>
              <a:ext cx="711200" cy="462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35"/>
                </a:lnSpc>
              </a:pPr>
              <a:r>
                <a:rPr lang="en-US" sz="1810" spc="682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5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6045282" y="578621"/>
            <a:ext cx="5609185" cy="35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884"/>
              </a:lnSpc>
              <a:spcBef>
                <a:spcPct val="0"/>
              </a:spcBef>
            </a:pPr>
            <a:r>
              <a:rPr lang="ar-EG" b="true" sz="2403">
                <a:solidFill>
                  <a:srgbClr val="FFFFFF"/>
                </a:solidFill>
                <a:latin typeface="Siwa Bold"/>
                <a:ea typeface="Siwa Bold"/>
                <a:cs typeface="Siwa Bold"/>
                <a:sym typeface="Siwa Bold"/>
                <a:rtl val="true"/>
              </a:rPr>
              <a:t>كيف تدير ادارة الكفاءة بكفاءة ؟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439738" y="1626487"/>
            <a:ext cx="1336834" cy="415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5"/>
              </a:lnSpc>
              <a:spcBef>
                <a:spcPct val="0"/>
              </a:spcBef>
            </a:pPr>
            <a:r>
              <a:rPr lang="en-US" sz="2410" spc="908" strike="noStrike" u="non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✨ </a:t>
            </a:r>
            <a:r>
              <a:rPr lang="ar-EG" sz="2410" spc="908" strike="noStrike" u="non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الجواب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073533" y="2163730"/>
            <a:ext cx="13996988" cy="415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375"/>
              </a:lnSpc>
              <a:spcBef>
                <a:spcPct val="0"/>
              </a:spcBef>
            </a:pPr>
            <a:r>
              <a:rPr lang="ar-EG" sz="2410" spc="908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إدارة الكفاءة الناجحة تعتمد على:  مشكلة محددة + </a:t>
            </a:r>
            <a:r>
              <a:rPr lang="en-US" sz="2410" spc="908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KPI</a:t>
            </a:r>
            <a:r>
              <a:rPr lang="ar-EG" sz="2410" spc="908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 واضح + بيانات قبل/بعد + حل قابل للتطبيق + مراعاة العامل البشري.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207332" y="3714243"/>
            <a:ext cx="3232406" cy="339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5"/>
              </a:lnSpc>
              <a:spcBef>
                <a:spcPct val="0"/>
              </a:spcBef>
            </a:pPr>
            <a:r>
              <a:rPr lang="ar-EG" sz="2010" spc="758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التعميم بدون تحديد المشكلة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823879" y="3583407"/>
            <a:ext cx="3248147" cy="691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5"/>
              </a:lnSpc>
              <a:spcBef>
                <a:spcPct val="0"/>
              </a:spcBef>
            </a:pPr>
            <a:r>
              <a:rPr lang="ar-EG" sz="2010" spc="758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اختيار مشكلة كبيرة وغير قابلة للقياس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951670" y="5841337"/>
            <a:ext cx="3513402" cy="691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5"/>
              </a:lnSpc>
              <a:spcBef>
                <a:spcPct val="0"/>
              </a:spcBef>
            </a:pPr>
            <a:r>
              <a:rPr lang="ar-EG" sz="2010" spc="758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عدم ربط المشكلة بالمؤشرات</a:t>
            </a:r>
            <a:r>
              <a:rPr lang="en-US" sz="2010" spc="758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 (KPIS)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766824" y="4238926"/>
            <a:ext cx="2273022" cy="1488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75"/>
              </a:lnSpc>
              <a:spcBef>
                <a:spcPct val="0"/>
              </a:spcBef>
            </a:pP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مشروع بدون بيانات = غير احترافي.</a:t>
            </a:r>
          </a:p>
          <a:p>
            <a:pPr algn="ctr" rtl="true">
              <a:lnSpc>
                <a:spcPts val="1975"/>
              </a:lnSpc>
              <a:spcBef>
                <a:spcPct val="0"/>
              </a:spcBef>
            </a:pP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يجب قياس:</a:t>
            </a:r>
          </a:p>
          <a:p>
            <a:pPr algn="ctr" rtl="true">
              <a:lnSpc>
                <a:spcPts val="1975"/>
              </a:lnSpc>
              <a:spcBef>
                <a:spcPct val="0"/>
              </a:spcBef>
            </a:pP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الوقت قبل/بعد</a:t>
            </a:r>
          </a:p>
          <a:p>
            <a:pPr algn="ctr" rtl="true">
              <a:lnSpc>
                <a:spcPts val="1975"/>
              </a:lnSpc>
              <a:spcBef>
                <a:spcPct val="0"/>
              </a:spcBef>
            </a:pP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نسبة الأخطاء</a:t>
            </a:r>
          </a:p>
          <a:p>
            <a:pPr algn="ctr" rtl="true">
              <a:lnSpc>
                <a:spcPts val="1975"/>
              </a:lnSpc>
              <a:spcBef>
                <a:spcPct val="0"/>
              </a:spcBef>
            </a:pP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عدد الطلبات المتأخرة</a:t>
            </a:r>
          </a:p>
          <a:p>
            <a:pPr algn="ctr" rtl="true">
              <a:lnSpc>
                <a:spcPts val="1975"/>
              </a:lnSpc>
              <a:spcBef>
                <a:spcPct val="0"/>
              </a:spcBef>
            </a:pP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تكلفة الهدر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352011" y="4532455"/>
            <a:ext cx="3973685" cy="99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75"/>
              </a:lnSpc>
              <a:spcBef>
                <a:spcPct val="0"/>
              </a:spcBef>
            </a:pP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ركّزي على:</a:t>
            </a:r>
          </a:p>
          <a:p>
            <a:pPr algn="ctr" rtl="true">
              <a:lnSpc>
                <a:spcPts val="1975"/>
              </a:lnSpc>
              <a:spcBef>
                <a:spcPct val="0"/>
              </a:spcBef>
            </a:pP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قسم واحد</a:t>
            </a:r>
          </a:p>
          <a:p>
            <a:pPr algn="ctr" rtl="true">
              <a:lnSpc>
                <a:spcPts val="1975"/>
              </a:lnSpc>
              <a:spcBef>
                <a:spcPct val="0"/>
              </a:spcBef>
            </a:pP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عملية واحدة</a:t>
            </a:r>
          </a:p>
          <a:p>
            <a:pPr algn="ctr" rtl="true">
              <a:lnSpc>
                <a:spcPts val="1975"/>
              </a:lnSpc>
              <a:spcBef>
                <a:spcPct val="0"/>
              </a:spcBef>
            </a:pP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خطوة واحدة داخل العملية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892374" y="4486576"/>
            <a:ext cx="1728788" cy="99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975"/>
              </a:lnSpc>
              <a:spcBef>
                <a:spcPct val="0"/>
              </a:spcBef>
            </a:pP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تحديد مشكلة  </a:t>
            </a: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دقيقة مثل:</a:t>
            </a:r>
          </a:p>
          <a:p>
            <a:pPr algn="r" rtl="true">
              <a:lnSpc>
                <a:spcPts val="1975"/>
              </a:lnSpc>
              <a:spcBef>
                <a:spcPct val="0"/>
              </a:spcBef>
            </a:pP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تأخير تجهيز الطلبات</a:t>
            </a:r>
          </a:p>
          <a:p>
            <a:pPr algn="r" rtl="true">
              <a:lnSpc>
                <a:spcPts val="1975"/>
              </a:lnSpc>
              <a:spcBef>
                <a:spcPct val="0"/>
              </a:spcBef>
            </a:pP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ارتفاع نسبة الأخطاء</a:t>
            </a:r>
          </a:p>
          <a:p>
            <a:pPr algn="r" rtl="true">
              <a:lnSpc>
                <a:spcPts val="1975"/>
              </a:lnSpc>
              <a:spcBef>
                <a:spcPct val="0"/>
              </a:spcBef>
            </a:pP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طول وقت انتظار العميل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900574" y="6870687"/>
            <a:ext cx="1749742" cy="124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75"/>
              </a:lnSpc>
              <a:spcBef>
                <a:spcPct val="0"/>
              </a:spcBef>
            </a:pP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أسباب فشل كثيرة بسبب:</a:t>
            </a:r>
          </a:p>
          <a:p>
            <a:pPr algn="ctr" rtl="true">
              <a:lnSpc>
                <a:spcPts val="1975"/>
              </a:lnSpc>
              <a:spcBef>
                <a:spcPct val="0"/>
              </a:spcBef>
            </a:pP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مقاومة التغيير</a:t>
            </a:r>
          </a:p>
          <a:p>
            <a:pPr algn="ctr" rtl="true">
              <a:lnSpc>
                <a:spcPts val="1975"/>
              </a:lnSpc>
              <a:spcBef>
                <a:spcPct val="0"/>
              </a:spcBef>
            </a:pP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ضعف التدريب</a:t>
            </a:r>
          </a:p>
          <a:p>
            <a:pPr algn="ctr" rtl="true">
              <a:lnSpc>
                <a:spcPts val="1975"/>
              </a:lnSpc>
              <a:spcBef>
                <a:spcPct val="0"/>
              </a:spcBef>
            </a:pP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عدم وضوح الأدوار</a:t>
            </a:r>
          </a:p>
          <a:p>
            <a:pPr algn="ctr" rtl="true">
              <a:lnSpc>
                <a:spcPts val="1975"/>
              </a:lnSpc>
              <a:spcBef>
                <a:spcPct val="0"/>
              </a:spcBef>
            </a:pP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عدم مراعاة رضا الموظفي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577974" y="6788308"/>
            <a:ext cx="2825591" cy="99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75"/>
              </a:lnSpc>
              <a:spcBef>
                <a:spcPct val="0"/>
              </a:spcBef>
            </a:pP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يجب توثيق:</a:t>
            </a:r>
          </a:p>
          <a:p>
            <a:pPr algn="ctr" rtl="true">
              <a:lnSpc>
                <a:spcPts val="1975"/>
              </a:lnSpc>
              <a:spcBef>
                <a:spcPct val="0"/>
              </a:spcBef>
            </a:pP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الوضع الحالي (</a:t>
            </a:r>
            <a:r>
              <a:rPr lang="en-US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BEFORE</a:t>
            </a: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)</a:t>
            </a:r>
          </a:p>
          <a:p>
            <a:pPr algn="ctr" rtl="true">
              <a:lnSpc>
                <a:spcPts val="1975"/>
              </a:lnSpc>
              <a:spcBef>
                <a:spcPct val="0"/>
              </a:spcBef>
            </a:pP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الوضع بعد التحسين (</a:t>
            </a:r>
            <a:r>
              <a:rPr lang="en-US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AFTER</a:t>
            </a: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)</a:t>
            </a:r>
          </a:p>
          <a:p>
            <a:pPr algn="ctr" rtl="true">
              <a:lnSpc>
                <a:spcPts val="1975"/>
              </a:lnSpc>
              <a:spcBef>
                <a:spcPct val="0"/>
              </a:spcBef>
            </a:pP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نسبة التحسن (</a:t>
            </a:r>
            <a:r>
              <a:rPr lang="en-US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IMPROVEMENT</a:t>
            </a: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 %)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510600" y="6660343"/>
            <a:ext cx="2625870" cy="124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75"/>
              </a:lnSpc>
              <a:spcBef>
                <a:spcPct val="0"/>
              </a:spcBef>
            </a:pP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كل مشكلة يجب أن ترتبط بـ </a:t>
            </a:r>
            <a:r>
              <a:rPr lang="en-US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KPI</a:t>
            </a:r>
            <a:r>
              <a:rPr lang="ar-EG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 واضح:</a:t>
            </a:r>
          </a:p>
          <a:p>
            <a:pPr algn="ctr" rtl="true">
              <a:lnSpc>
                <a:spcPts val="1975"/>
              </a:lnSpc>
              <a:spcBef>
                <a:spcPct val="0"/>
              </a:spcBef>
            </a:pPr>
            <a:r>
              <a:rPr lang="en-US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TIME</a:t>
            </a:r>
          </a:p>
          <a:p>
            <a:pPr algn="ctr" rtl="true">
              <a:lnSpc>
                <a:spcPts val="1975"/>
              </a:lnSpc>
              <a:spcBef>
                <a:spcPct val="0"/>
              </a:spcBef>
            </a:pPr>
            <a:r>
              <a:rPr lang="en-US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QUALITY</a:t>
            </a:r>
          </a:p>
          <a:p>
            <a:pPr algn="ctr" rtl="true">
              <a:lnSpc>
                <a:spcPts val="1975"/>
              </a:lnSpc>
              <a:spcBef>
                <a:spcPct val="0"/>
              </a:spcBef>
            </a:pPr>
            <a:r>
              <a:rPr lang="en-US" sz="1410" spc="531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COST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336264">
            <a:off x="-1201035" y="-4604046"/>
            <a:ext cx="20690071" cy="19495092"/>
          </a:xfrm>
          <a:custGeom>
            <a:avLst/>
            <a:gdLst/>
            <a:ahLst/>
            <a:cxnLst/>
            <a:rect r="r" b="b" t="t" l="l"/>
            <a:pathLst>
              <a:path h="19495092" w="20690071">
                <a:moveTo>
                  <a:pt x="6465129" y="0"/>
                </a:moveTo>
                <a:lnTo>
                  <a:pt x="20690070" y="11493562"/>
                </a:lnTo>
                <a:lnTo>
                  <a:pt x="14224941" y="19495092"/>
                </a:lnTo>
                <a:lnTo>
                  <a:pt x="0" y="8001530"/>
                </a:lnTo>
                <a:lnTo>
                  <a:pt x="6465129" y="0"/>
                </a:lnTo>
                <a:close/>
              </a:path>
            </a:pathLst>
          </a:custGeom>
          <a:blipFill>
            <a:blip r:embed="rId2"/>
            <a:stretch>
              <a:fillRect l="0" t="-4172" r="-48019" b="-55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12697" y="1665590"/>
            <a:ext cx="14227850" cy="4642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345"/>
              </a:lnSpc>
              <a:spcBef>
                <a:spcPct val="0"/>
              </a:spcBef>
            </a:pPr>
            <a:r>
              <a:rPr lang="ar-EG" sz="4532" spc="1708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شكرًا لكم</a:t>
            </a:r>
          </a:p>
          <a:p>
            <a:pPr algn="ctr" rtl="true">
              <a:lnSpc>
                <a:spcPts val="6345"/>
              </a:lnSpc>
              <a:spcBef>
                <a:spcPct val="0"/>
              </a:spcBef>
            </a:pPr>
            <a:r>
              <a:rPr lang="en-US" sz="4532" spc="1708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THANK YOU</a:t>
            </a:r>
          </a:p>
          <a:p>
            <a:pPr algn="ctr" rtl="true">
              <a:lnSpc>
                <a:spcPts val="4805"/>
              </a:lnSpc>
              <a:spcBef>
                <a:spcPct val="0"/>
              </a:spcBef>
            </a:pPr>
          </a:p>
          <a:p>
            <a:pPr algn="ctr" rtl="true">
              <a:lnSpc>
                <a:spcPts val="4805"/>
              </a:lnSpc>
              <a:spcBef>
                <a:spcPct val="0"/>
              </a:spcBef>
            </a:pPr>
          </a:p>
          <a:p>
            <a:pPr algn="ctr" rtl="true">
              <a:lnSpc>
                <a:spcPts val="4805"/>
              </a:lnSpc>
              <a:spcBef>
                <a:spcPct val="0"/>
              </a:spcBef>
            </a:pPr>
            <a:r>
              <a:rPr lang="ar-EG" sz="3432" spc="1294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رسالة أخيرة</a:t>
            </a:r>
          </a:p>
          <a:p>
            <a:pPr algn="ctr" rtl="true">
              <a:lnSpc>
                <a:spcPts val="4805"/>
              </a:lnSpc>
              <a:spcBef>
                <a:spcPct val="0"/>
              </a:spcBef>
            </a:pPr>
          </a:p>
          <a:p>
            <a:pPr algn="ctr" rtl="true">
              <a:lnSpc>
                <a:spcPts val="4805"/>
              </a:lnSpc>
              <a:spcBef>
                <a:spcPct val="0"/>
              </a:spcBef>
            </a:pPr>
            <a:r>
              <a:rPr lang="ar-EG" sz="3432" spc="1294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  <a:rtl val="true"/>
              </a:rPr>
              <a:t>الكفاءة ليست مشروعًا… الكفاءة ثقافة تبدأ من تحديد المشكلة وتنتهي بتحسين قابل للقيا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DAHI-NgUlWY</dc:identifier>
  <dcterms:modified xsi:type="dcterms:W3CDTF">2011-08-01T06:04:30Z</dcterms:modified>
  <cp:revision>1</cp:revision>
  <dc:title>Project charter</dc:title>
</cp:coreProperties>
</file>